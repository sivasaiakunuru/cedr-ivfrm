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Presenting CEDR - Cybersecurity Event Data Recorder. Modern vehicles face unprecedented cyber threats. CEDR provides tamper-evident forensic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sections today: Problem, Solution, and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landscape escalating rapidly.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 competitors provide tamper-evident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R155 mandatory July 2024. Fines up to €30M.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Two-tier architecture with component diagram. Vehicle edge uses CM4 with NXP HSM. Cloud on AWS with Azure 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innovation: cryptographic hash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about CM4 limitations. Phase 3 includes automotive-grade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Costs increased from $29,940 to $84,900 with realistic usage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STRIDE categories covered with specific countermeasures.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 comprehensive user stories with acceptance criteria. Story pyramid visualization shows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primary use cases with complete flow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UML architecture includes structural and behavioral diagrams. Deployment diagram shows hardware/software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risks with NIST methodology. Heat map visualization. 57% risk reduction with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compliance status. 3 of 7 ISO work products complete. AEC-Q100 not qualified - Phase 3 includes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Analyzed 8 competitors. CEDR uniquely provides tamper-evident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sizing with TAM/SAM/SOM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ROI calculated via expected loss reduction, not simple payback.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Break-even recalculated honestly. Original 2,847 was inflated.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TCO corrected with honest cloud cost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Four-phase roadmap with TRL progression. SWOT analysis shows competitive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KPIs at each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$45K Phase 1 investment with detailed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Phase 1 budget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2-4 total $1.32M for certification and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reduction roadmap with go/no-go decision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and strategic partnerships.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90-day Phase 1 execution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answers for tough evaluator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budget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matrix showing 8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 work product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hardware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IEEE and industry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CEDR: Cybersecurity Event Data Recorder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8B8B"/>
                </a:solidFill>
              </a:defRPr>
            </a:pPr>
            <a:r>
              <a:t>In-Vehicle Forensic Readiness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E0E0"/>
                </a:solidFill>
              </a:defRPr>
            </a:pPr>
            <a:r>
              <a:t>Team Cyber-Torque | CYB408 Capstone | St. Clair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404040"/>
                </a:solidFill>
              </a:defRPr>
            </a:pPr>
            <a:r>
              <a:t>Three Sections:</a:t>
            </a:r>
            <a:br/>
            <a:br/>
            <a:r>
              <a:t>1. THE PROBLEM</a:t>
            </a:r>
            <a:br/>
            <a:r>
              <a:t>   Automotive cybersecurity gap and forensic readiness crisis</a:t>
            </a:r>
            <a:br/>
            <a:br/>
            <a:r>
              <a:t>2. THE SOLUTION</a:t>
            </a:r>
            <a:br/>
            <a:r>
              <a:t>   CEDR architecture, differentiation, and roadmap</a:t>
            </a:r>
            <a:br/>
            <a:br/>
            <a:r>
              <a:t>3. THE ASK</a:t>
            </a:r>
            <a:br/>
            <a:r>
              <a:t>   Phase 1 investment and business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Automotive Cybersecurity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404040"/>
                </a:solidFill>
              </a:defRPr>
            </a:pPr>
            <a:r>
              <a:t>450% increase in incidents since 2018 (Upstream Security)</a:t>
            </a:r>
            <a:br/>
            <a:r>
              <a:t>100+ ECUs per modern vehicle</a:t>
            </a:r>
            <a:br/>
            <a:r>
              <a:t>287 days average breach detection time</a:t>
            </a:r>
            <a:br/>
            <a:r>
              <a:t>$5.2M average breach cost (IBM 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Forensic Readiness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404040"/>
                </a:solidFill>
              </a:defRPr>
            </a:pPr>
            <a:r>
              <a:t>Key Finding: Existing solutions detect attacks.</a:t>
            </a:r>
            <a:br/>
            <a:r>
              <a:t>None provide tamper-evident forensic evidence.</a:t>
            </a:r>
            <a:br/>
            <a:br/>
            <a:r>
              <a:t>ESCRYPT: Basic logging only</a:t>
            </a:r>
            <a:br/>
            <a:r>
              <a:t>Harman: Cloud-only analysis</a:t>
            </a:r>
            <a:br/>
            <a:r>
              <a:t>Argus: Post-event only</a:t>
            </a:r>
            <a:br/>
            <a:r>
              <a:t>Upstream: No edge integrity</a:t>
            </a:r>
            <a:br/>
            <a:r>
              <a:t>CEDR: Hash chain integrity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Financial &amp; Regulatory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404040"/>
                </a:solidFill>
              </a:defRPr>
            </a:pPr>
            <a:r>
              <a:t>€30M maximum UN R155 fines</a:t>
            </a:r>
            <a:br/>
            <a:r>
              <a:t>Insurance claims denied without forensic proof</a:t>
            </a:r>
            <a:br/>
            <a:r>
              <a:t>$24B projected industry cost by 2030 (McKinsey)</a:t>
            </a:r>
            <a:br/>
            <a:r>
              <a:t>6-12 month ISO 21434 certification delays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CEDR Solution Overview</a:t>
            </a:r>
          </a:p>
        </p:txBody>
      </p:sp>
      <p:pic>
        <p:nvPicPr>
          <p:cNvPr id="4" name="Picture 3" descr="component_diagram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943600" cy="4245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VEHICLE EDGE:</a:t>
            </a:r>
            <a:br/>
            <a:r>
              <a:t>• Raspberry Pi CM4</a:t>
            </a:r>
            <a:br/>
            <a:r>
              <a:t>• NXP A71CH HSM</a:t>
            </a:r>
            <a:br/>
            <a:r>
              <a:t>• Real-time CAN capture</a:t>
            </a:r>
            <a:br/>
            <a:r>
              <a:t>• ML inference &lt;500ms</a:t>
            </a:r>
            <a:br/>
            <a:r>
              <a:t>• Hash chain storage</a:t>
            </a:r>
            <a:br/>
            <a:r>
              <a:t>• 4G/LTE upload</a:t>
            </a:r>
            <a:br/>
            <a:br/>
            <a:r>
              <a:t>CLOUD:</a:t>
            </a:r>
            <a:br/>
            <a:r>
              <a:t>• AWS + Azure DR</a:t>
            </a:r>
            <a:br/>
            <a:r>
              <a:t>• Kubernetes</a:t>
            </a:r>
            <a:br/>
            <a:r>
              <a:t>• SOC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Differentiation: Hash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Every security event generates SHA-256 hash:</a:t>
            </a:r>
            <a:br/>
            <a:r>
              <a:t>• Event data (CAN frame, timestamp, vehicle ID)</a:t>
            </a:r>
            <a:br/>
            <a:r>
              <a:t>• Previous event's hash (sequential chain)</a:t>
            </a:r>
            <a:br/>
            <a:r>
              <a:t>• HSM-signed timestamp (non-repudiation)</a:t>
            </a:r>
            <a:br/>
            <a:br/>
            <a:r>
              <a:t>If ANY record modified → hash verification FAILS</a:t>
            </a:r>
            <a:br/>
            <a:br/>
            <a:r>
              <a:t>Court-admissible evidence integrity</a:t>
            </a:r>
            <a:br/>
            <a:r>
              <a:t>No competitor offers this capability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Honest Hardware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SPECIFICATION | PROTOTYPE | PRODUCTION</a:t>
            </a:r>
            <a:br/>
            <a:r>
              <a:t>Platform | RPi CM4 | NXP S32G</a:t>
            </a:r>
            <a:br/>
            <a:r>
              <a:t>Temperature | -20°C to +70°C | -40°C to +125°C</a:t>
            </a:r>
            <a:br/>
            <a:r>
              <a:t>Qualification | NOT automotive | AEC-Q100 Grade 1</a:t>
            </a:r>
            <a:br/>
            <a:br/>
            <a:r>
              <a:t>Phase 3: $85,000 migration to NXP S32G</a:t>
            </a:r>
            <a:br/>
            <a:br/>
            <a:r>
              <a:t>Transparent: CM4 is commercial grade, suitable for prototype validation but NOT for production vehicles.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Revised Cloud Infrastructure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Multi-Cloud Architecture (1,000 vehicles):</a:t>
            </a:r>
            <a:br/>
            <a:br/>
            <a:r>
              <a:t>AWS (Primary): $5,075/month</a:t>
            </a:r>
            <a:br/>
            <a:r>
              <a:t>Azure (DR): $1,200/month</a:t>
            </a:r>
            <a:br/>
            <a:r>
              <a:t>GCP (ML): $800/month</a:t>
            </a:r>
            <a:br/>
            <a:br/>
            <a:r>
              <a:t>TOTAL: $7,075/month = $84,900/year</a:t>
            </a:r>
            <a:br/>
            <a:r>
              <a:t>(Revised from $29,940)</a:t>
            </a:r>
            <a:br/>
            <a:br/>
            <a:r>
              <a:t>Realistic AWS pricing including data transfer and CloudWatch.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Security Features: STRIDE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Spoofing: Multi-source location verification</a:t>
            </a:r>
            <a:br/>
            <a:r>
              <a:t>Tampering: SHA-256 hash chain, WORM storage</a:t>
            </a:r>
            <a:br/>
            <a:r>
              <a:t>Repudiation: HSM-signed timestamps</a:t>
            </a:r>
            <a:br/>
            <a:r>
              <a:t>Information Disclosure: AES-256-GCM, HSM keys</a:t>
            </a:r>
            <a:br/>
            <a:r>
              <a:t>DoS: Hardware CAN filtering, rate limiting</a:t>
            </a:r>
            <a:br/>
            <a:r>
              <a:t>Elevation: RBAC, zero-trust architecture</a:t>
            </a:r>
            <a:br/>
            <a:br/>
            <a:r>
              <a:t>Full threat model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38 Agile User Stories</a:t>
            </a:r>
          </a:p>
        </p:txBody>
      </p:sp>
      <p:pic>
        <p:nvPicPr>
          <p:cNvPr id="4" name="Picture 3" descr="story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977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Complete Framework:</a:t>
            </a:r>
            <a:br/>
            <a:br/>
            <a:r>
              <a:t>7 Functional</a:t>
            </a:r>
            <a:br/>
            <a:r>
              <a:t>4 Non-Functional</a:t>
            </a:r>
            <a:br/>
            <a:r>
              <a:t>7 Security</a:t>
            </a:r>
            <a:br/>
            <a:r>
              <a:t>10 Abuse Cases</a:t>
            </a:r>
            <a:br/>
            <a:r>
              <a:t>10 Countermeasures</a:t>
            </a:r>
            <a:br/>
            <a:br/>
            <a:r>
              <a:t>All stories include:</a:t>
            </a:r>
            <a:br/>
            <a:r>
              <a:t>• Given-When-Then criteria</a:t>
            </a:r>
            <a:br/>
            <a:r>
              <a:t>• OWASP verification</a:t>
            </a:r>
            <a:br/>
            <a:r>
              <a:t>• Traceability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Use Cases: Complete Flow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UC-001 Secure OTA Update Logging:</a:t>
            </a:r>
            <a:br/>
            <a:r>
              <a:t>Pre-conditions → Primary Flow → Alternate (Rollback) → Exception (Invalid Sig)</a:t>
            </a:r>
            <a:br/>
            <a:br/>
            <a:r>
              <a:t>UC-002 Real-Time Intrusion Detection:</a:t>
            </a:r>
            <a:br/>
            <a:r>
              <a:t>Pre-conditions → Primary Flow → Alternate (Offline Mode) → Exception (ML Failure)</a:t>
            </a:r>
            <a:br/>
            <a:br/>
            <a:r>
              <a:t>UC-003 Post-Incident Forensic Investigation:</a:t>
            </a:r>
            <a:br/>
            <a:r>
              <a:t>Pre-conditions → Search → Verify Hash Chain → Export Evidence</a:t>
            </a:r>
            <a:br/>
            <a:br/>
            <a:r>
              <a:t>All include: Pre/post conditions, primary flow, alternate flows, exception flows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UML Architecture: 12 Diagrams</a:t>
            </a:r>
          </a:p>
        </p:txBody>
      </p:sp>
      <p:pic>
        <p:nvPicPr>
          <p:cNvPr id="4" name="Picture 3" descr="deployment_diagram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49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Risk Analysis: 24 Risks</a:t>
            </a:r>
          </a:p>
        </p:txBody>
      </p:sp>
      <p:pic>
        <p:nvPicPr>
          <p:cNvPr id="4" name="Picture 3" descr="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5029200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NIST SP 800-30 Methodology:</a:t>
            </a:r>
            <a:br/>
            <a:r>
              <a:t>Likelihood × Impact × Confidence</a:t>
            </a:r>
            <a:br/>
            <a:br/>
            <a:r>
              <a:t>Categories:</a:t>
            </a:r>
            <a:br/>
            <a:r>
              <a:t>• Technical (5)</a:t>
            </a:r>
            <a:br/>
            <a:r>
              <a:t>• Business (5)</a:t>
            </a:r>
            <a:br/>
            <a:r>
              <a:t>• Compliance (4)</a:t>
            </a:r>
            <a:br/>
            <a:r>
              <a:t>• Operational (2)</a:t>
            </a:r>
            <a:br/>
            <a:r>
              <a:t>• Security (3)</a:t>
            </a:r>
            <a:br/>
            <a:r>
              <a:t>• Supply Chain (3)</a:t>
            </a:r>
            <a:br/>
            <a:r>
              <a:t>• Technical Debt (2)</a:t>
            </a:r>
            <a:br/>
            <a:br/>
            <a:r>
              <a:t>Risk Reduction: 57%</a:t>
            </a:r>
            <a:br/>
            <a:r>
              <a:t>12.4 → 5.3 average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Compliance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ISO/SAE 21434: 3/7 Complete ✅ | 2/7 In Progress 🟡 | Month 6-12</a:t>
            </a:r>
            <a:br/>
            <a:r>
              <a:t>UN R155 CSMS: Gap analysis complete | Month 12-14</a:t>
            </a:r>
            <a:br/>
            <a:r>
              <a:t>UN R156 SUMS: Architecture ready | Month 10-12</a:t>
            </a:r>
            <a:br/>
            <a:r>
              <a:t>AEC-Q100: NOT qualified (CM4) | NXP S32G migration M9-11</a:t>
            </a:r>
            <a:br/>
            <a:br/>
            <a:r>
              <a:t>External audit: $67,000 + $35,000/year maintenance</a:t>
            </a:r>
            <a:br/>
            <a:br/>
            <a:r>
              <a:t>Honest assessment with clear timeline to full compliance.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Competitive Analysis: 8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ESCRYPT: $800-1200 | ECU IDS | ❌ No forensics</a:t>
            </a:r>
            <a:br/>
            <a:r>
              <a:t>Harman: $700-1000 | Network | ❌ Cloud-only</a:t>
            </a:r>
            <a:br/>
            <a:r>
              <a:t>Argus: $500-800/yr | Cloud IDS | ❌ Post-event</a:t>
            </a:r>
            <a:br/>
            <a:r>
              <a:t>Upstream: $15-50/yr | Vehicle SOC | ❌ No edge</a:t>
            </a:r>
            <a:br/>
            <a:r>
              <a:t>Karamba: $50-100/ECU | Hardening | ❌ No detection</a:t>
            </a:r>
            <a:br/>
            <a:r>
              <a:t>GuardKnox: $300-500 | Gateway | ❌ Limited</a:t>
            </a:r>
            <a:br/>
            <a:r>
              <a:t>CEDR: $600-750 | Forensic Ready | ✅ Hash chain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TAM: 250M connected vehicles by 2025 | $8B cyber spend</a:t>
            </a:r>
            <a:br/>
            <a:r>
              <a:t>SAM: 25M commercial fleets | $800M forensic segment</a:t>
            </a:r>
            <a:br/>
            <a:r>
              <a:t>SOM: 1,000 vehicles Year 1 | 10,000 by Year 3</a:t>
            </a:r>
            <a:br/>
            <a:r>
              <a:t>Revenue: $6M (hardware + subscriptions)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ROI Calculation: 2.2×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Expected Loss Without CEDR: $780,000/year</a:t>
            </a:r>
            <a:br/>
            <a:r>
              <a:t>Expected Loss With CEDR: $156,000/year</a:t>
            </a:r>
            <a:br/>
            <a:r>
              <a:t>Annual Risk Reduction: $624,000</a:t>
            </a:r>
            <a:br/>
            <a:r>
              <a:t>24-Month Value: $1,248,000</a:t>
            </a:r>
            <a:br/>
            <a:r>
              <a:t>Investment (Phases 1-3): $450,000</a:t>
            </a:r>
            <a:br/>
            <a:r>
              <a:t>ROI: 2.2× using risk mitigation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Break-Even: 4,181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Contribution Margin: $422/vehicle (Year 1)</a:t>
            </a:r>
            <a:br/>
            <a:r>
              <a:t>Year 1 Fixed Costs: $1,418,875</a:t>
            </a:r>
            <a:br/>
            <a:r>
              <a:t>Break-Even: 4,181 vehicles</a:t>
            </a:r>
            <a:br/>
            <a:br/>
            <a:r>
              <a:t>Sensitivity: Best case 2,480 | Worst case 5,600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5-Year TCO: $6.1M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404040"/>
                </a:solidFill>
              </a:defRPr>
            </a:pPr>
            <a:r>
              <a:t>Original: $5.43M | Revised: $6.11M</a:t>
            </a:r>
            <a:br/>
            <a:br/>
            <a:r>
              <a:t>Hardware: $213K | Cloud: $425K | Software: $1.6M</a:t>
            </a:r>
            <a:br/>
            <a:r>
              <a:t>Personnel: $3.4M | Compliance: $498K</a:t>
            </a:r>
            <a:br/>
            <a:br/>
            <a:r>
              <a:t>Per Vehicle: $6,110 (+$132 from original)</a:t>
            </a:r>
            <a:br/>
            <a:br/>
            <a:r>
              <a:t>Cloud revision: +$131,560 for realistic data transfer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Four-Phase Roadmap: TRL 4 → 9</a:t>
            </a:r>
          </a:p>
        </p:txBody>
      </p:sp>
      <p:pic>
        <p:nvPicPr>
          <p:cNvPr id="4" name="Picture 3" descr="swo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303520" cy="3977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Phase 0: TRL 4 | Prototype | $65K</a:t>
            </a:r>
            <a:br/>
            <a:r>
              <a:t>Phase 1: TRL 5 | CM4, HSM | $45K</a:t>
            </a:r>
            <a:br/>
            <a:r>
              <a:t>Phase 2: TRL 6 | Secure boot | $120K</a:t>
            </a:r>
            <a:br/>
            <a:r>
              <a:t>Phase 3: TRL 8 | AEC-Q100 | $285K</a:t>
            </a:r>
            <a:br/>
            <a:r>
              <a:t>Phase 4: TRL 9 | 10K units | $850K</a:t>
            </a:r>
            <a:br/>
            <a:br/>
            <a:r>
              <a:t>Total: $1.37M</a:t>
            </a:r>
            <a:br/>
            <a:r>
              <a:t>Risk Reduction: 40% → 90%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Phase 1: 10 CM4 units, -20°C to +70°C validated, 25 attacks, LOI signed</a:t>
            </a:r>
            <a:br/>
            <a:r>
              <a:t>Phase 2: Secure boot 100%, 50+ HIL coverage, code coverage &gt;80%</a:t>
            </a:r>
            <a:br/>
            <a:r>
              <a:t>Phase 3: AEC-Q100, UN R155, 3 pilots, 50 vehicles, $50K revenue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 1: $45,000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Objectives: Validate core technology, de-risk hardware, 40% risk reduction</a:t>
            </a:r>
            <a:br/>
            <a:br/>
            <a:r>
              <a:t>Hardware: $15K | Testing: $18K | BD: $12K</a:t>
            </a:r>
            <a:br/>
            <a:br/>
            <a:r>
              <a:t>Deliverables: 10 CM4 units, HSM integration, IP67 testing, 25 attacks validated, pilot LOI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Hardware $15K: 10× CM4 ($6.5K), 10× HSM ($1.2K), enclosures ($3.5K), cables ($3.8K)</a:t>
            </a:r>
            <a:br/>
            <a:r>
              <a:t>Testing $18K: Environmental chamber ($8K), Red team ($6K), Security audit ($4K)</a:t>
            </a:r>
            <a:br/>
            <a:r>
              <a:t>BD $12K: Pilot engagement ($7K), Advisory board ($3K), Travel ($2K)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Phases 2-4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Phase 2 ($120K): Security hardening, HIL testing, SOAR integration</a:t>
            </a:r>
            <a:br/>
            <a:r>
              <a:t>Phase 3 ($285K): AEC-Q100 ($125K), EMC ($35K), UN R155 ($67K), 50-vehicle pilot</a:t>
            </a:r>
            <a:br/>
            <a:r>
              <a:t>Phase 4 ($850K): 10K units, V2X, Series A preparation</a:t>
            </a:r>
            <a:br/>
            <a:br/>
            <a:r>
              <a:t>Cumulative: $1.37M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Risk Mitigation: 40% →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Pre-mitigation: 12.4 average score</a:t>
            </a:r>
            <a:br/>
            <a:r>
              <a:t>Phase 1: 12.4 → 6.8 (45% reduction)</a:t>
            </a:r>
            <a:br/>
            <a:r>
              <a:t>Phase 2: 6.8 → 4.0 (68% reduction)</a:t>
            </a:r>
            <a:br/>
            <a:r>
              <a:t>Phase 3: 4.0 → 2.3 (81% reduction)</a:t>
            </a:r>
            <a:br/>
            <a:r>
              <a:t>Phase 4: 2.3 → 1.1 (91% reduction)</a:t>
            </a:r>
            <a:br/>
            <a:br/>
            <a:r>
              <a:t>Natural stopping points after each phase.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Team &amp;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Core Team: St. Clair College CYB408 Capstone</a:t>
            </a:r>
            <a:br/>
            <a:r>
              <a:t>Partners: eSentire (SOC), NXP (HSM), AWS/Azure/GCP (cloud)</a:t>
            </a:r>
            <a:br/>
            <a:r>
              <a:t>Advisors: Automotive cyber expert, OEM integration, Legal/forensic</a:t>
            </a:r>
            <a:br/>
            <a:br/>
            <a:r>
              <a:t>Academic: St. Clair College Cybersecurity Club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Next Steps: 90-Day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Month 1: Procure CM4 units, HSM driver development, chamber access</a:t>
            </a:r>
            <a:br/>
            <a:r>
              <a:t>Month 2: HSM integration, enclosure fabrication, pilot discussions</a:t>
            </a:r>
            <a:br/>
            <a:r>
              <a:t>Month 3: Environmental testing, 25 attack validation, LOI signing</a:t>
            </a:r>
            <a:br/>
            <a:br/>
            <a:r>
              <a:t>Deliverable: Validated technology + committed customer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Q&amp;A: 10 Tough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1. Hardware grade? → Phase 3 NXP S32G migration</a:t>
            </a:r>
            <a:br/>
            <a:r>
              <a:t>2. Competitors? → Analyzed 8, zero forensic capability</a:t>
            </a:r>
            <a:br/>
            <a:r>
              <a:t>3. Cloud costs? → Realistic AWS, unit economics work</a:t>
            </a:r>
            <a:br/>
            <a:r>
              <a:t>4. ISO complete? → 3/7 now, full by Month 12</a:t>
            </a:r>
            <a:br/>
            <a:r>
              <a:t>5. ML concerns? → Rule-based fallback</a:t>
            </a:r>
            <a:br/>
            <a:r>
              <a:t>6. ESCRYPT? → Target Tier-2/3 differentiation</a:t>
            </a:r>
            <a:br/>
            <a:r>
              <a:t>7. Break-even? → Honest 4,181 vs inflated 2,847</a:t>
            </a:r>
            <a:br/>
            <a:r>
              <a:t>8. Funding risk? → Natural stopping points</a:t>
            </a:r>
            <a:br/>
            <a:r>
              <a:t>9. GDPR? → Legal basis UN R155</a:t>
            </a:r>
            <a:br/>
            <a:r>
              <a:t>10. Why now? → UN R155 mandatory July 2024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Appendix: Detailed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Phase 1: $45K | Phase 2: $120K | Phase 3: $285K | Phase 4: $850K</a:t>
            </a:r>
            <a:br/>
            <a:r>
              <a:t>5-Year TCO: $6.11M</a:t>
            </a:r>
            <a:br/>
            <a:r>
              <a:t>Hardware: $213K | Cloud: $425K | Software: $1.6M | Personnel: $3.4M | Compliance: $498K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Appendix: Competitive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Capability | ESCRYPT | Harman | Argus | Upstream | CEDR</a:t>
            </a:r>
            <a:br/>
            <a:r>
              <a:t>ECU IDS | ✅ | ✅ | ❌ | ❌ | ✅</a:t>
            </a:r>
            <a:br/>
            <a:r>
              <a:t>Network IDS | ✅ | ✅ | ✅ | ✅ | ✅</a:t>
            </a:r>
            <a:br/>
            <a:r>
              <a:t>Cloud Analytics | ✅ | ✅ | ✅ | ✅ | ✅</a:t>
            </a:r>
            <a:br/>
            <a:r>
              <a:t>Tamper-Evident | ❌ | ❌ | ❌ | ❌ | ✅ UNIQUE</a:t>
            </a:r>
            <a:br/>
            <a:r>
              <a:t>Hash Chain | ❌ | ❌ | ❌ | ❌ | ✅</a:t>
            </a:r>
            <a:br/>
            <a:r>
              <a:t>Open Source | ❌ | ❌ | ❌ | ❌ | ✅</a:t>
            </a:r>
            <a:br/>
            <a:r>
              <a:t>Price | $800-1200 | $700-1000 | $500-800 | $15-50 | $600-750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Appendix: ISO 21434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WP-01 Policy | ✅ Complete</a:t>
            </a:r>
            <a:br/>
            <a:r>
              <a:t>WP-02 Risk Mgmt | ✅ Complete</a:t>
            </a:r>
            <a:br/>
            <a:r>
              <a:t>WP-03 Concept | ✅ Complete</a:t>
            </a:r>
            <a:br/>
            <a:r>
              <a:t>WP-04 Development | 🟡 In Progress</a:t>
            </a:r>
            <a:br/>
            <a:r>
              <a:t>WP-05 Validation | 🟡 In Progress</a:t>
            </a:r>
            <a:br/>
            <a:r>
              <a:t>WP-06 Production | 📐 Design</a:t>
            </a:r>
            <a:br/>
            <a:r>
              <a:t>WP-07 Updates | ✅ Design</a:t>
            </a:r>
            <a:br/>
            <a:br/>
            <a:r>
              <a:t>3/7 Complete | 2/7 In Progress | 2/7 Design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Appendix: Technical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PROTOTYPE (CM4):</a:t>
            </a:r>
            <a:br/>
            <a:r>
              <a:t>BCM2711 quad-core @ 1.5GHz | 8GB LPDDR4</a:t>
            </a:r>
            <a:br/>
            <a:r>
              <a:t>-20°C to +70°C (NOT AEC-Q100)</a:t>
            </a:r>
            <a:br/>
            <a:br/>
            <a:r>
              <a:t>PRODUCTION (NXP S32G):</a:t>
            </a:r>
            <a:br/>
            <a:r>
              <a:t>Vehicle Network Processor</a:t>
            </a:r>
            <a:br/>
            <a:r>
              <a:t>-40°C to +125°C (AEC-Q100 Grade 1)</a:t>
            </a:r>
            <a:br/>
            <a:r>
              <a:t>ISO 26262 ASIL-B capable</a:t>
            </a:r>
            <a:br/>
            <a:br/>
            <a:r>
              <a:t>Migration: $85K (Phase 3)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References: 32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[1] Upstream Security 2024 Report</a:t>
            </a:r>
            <a:br/>
            <a:r>
              <a:t>[3] IBM Cost of Data Breach 2024</a:t>
            </a:r>
            <a:br/>
            <a:r>
              <a:t>[5] UNECE UN R155</a:t>
            </a:r>
            <a:br/>
            <a:r>
              <a:t>[6] Mansor et al. Forensic Framework 2020</a:t>
            </a:r>
            <a:br/>
            <a:r>
              <a:t>[7] Song et al. CAN IDS 2020</a:t>
            </a:r>
            <a:br/>
            <a:r>
              <a:t>[8] Crosby &amp; Wallach 2009</a:t>
            </a:r>
            <a:br/>
            <a:r>
              <a:t>[9] NXP A71CH Datasheet</a:t>
            </a:r>
            <a:br/>
            <a:r>
              <a:t>[10] NIST SP 800-30</a:t>
            </a:r>
            <a:br/>
            <a:r>
              <a:t>[12] Miller &amp; Valasek 2015</a:t>
            </a:r>
            <a:br/>
            <a:r>
              <a:t>[17] ISO/SAE 21434:2021</a:t>
            </a:r>
            <a:br/>
            <a:r>
              <a:t>[20] ISO 27037</a:t>
            </a:r>
            <a:br/>
            <a:r>
              <a:t>+ 21 additional IEEE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