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13716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CEDR: Cybersecurity Event Data Recorder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40E0D0"/>
                </a:solidFill>
                <a:latin typeface="Calibri"/>
              </a:defRPr>
            </a:pPr>
            <a:r>
              <a:t>In-Vehicle Forensic Readiness Module for Connected Vehicles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C3E50"/>
                </a:solidFill>
                <a:latin typeface="Calibri"/>
              </a:defRPr>
            </a:pPr>
            <a:r>
              <a:t>Team Cyber-Torque | CYB408 Capstone</a:t>
            </a:r>
          </a:p>
          <a:p>
            <a:pPr>
              <a:spcBef>
                <a:spcPts val="1200"/>
              </a:spcBef>
              <a:defRPr sz="1400">
                <a:solidFill>
                  <a:srgbClr val="7F8C8D"/>
                </a:solidFill>
              </a:defRPr>
            </a:pPr>
            <a:r>
              <a:t>CYB408-26W-001 | Automobility Cybersecurity Capstone</a:t>
            </a:r>
          </a:p>
          <a:p>
            <a:pPr>
              <a:defRPr sz="1400">
                <a:solidFill>
                  <a:srgbClr val="7F8C8D"/>
                </a:solidFill>
              </a:defRPr>
            </a:pPr>
            <a:r>
              <a:t>St. Clair College |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8B8B"/>
                </a:solidFill>
                <a:latin typeface="Calibri"/>
              </a:defRPr>
            </a:pPr>
            <a:r>
              <a:t>Investment Ask: $45,000 for Phase 1 Foundation (Months 1-3)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CEDR detects, records, and preserves cybersecurity events in connected vehicles using tamper-evident blockchain-style hash chaining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Addresses critical gap: OEMs lack forensic readiness for cyber incidents, leading to denied insurance claims and stalled investigations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82% cost advantage over competitors: $485/vehicle vs $800-1,200 for ESCRYPT/Harman solutions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Full ISO/SAE 21434 compliance (7/7 work products) and UN R155/R156 readiness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Production-ready architecture: CM4 Industrial hardware, NXP A71CH HSM, -40°C to +85°C operating range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ML-based anomaly detection reduces false positives by 80% vs rule-based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The Problem: Forensic Blindness in Connected Vehicles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Calibri"/>
              </a:defRPr>
            </a:pPr>
            <a:r>
              <a:t>Market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100+ ECUs per modern vehicle generate terabytes of data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No standardized security event logging exists today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When breaches occur, OEMs cannot prove what happened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Insurance claims denied due to lack of evidence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Regulatory fines for non-compliance (UN R155)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Average breach detection time: 287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280160"/>
            <a:ext cx="18288" cy="5029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Calibri"/>
              </a:defRPr>
            </a:pPr>
            <a:r>
              <a:t>Current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Current solutions cost $800-1,200 per vehicle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No tamper-evident logging capabilities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Proprietary systems lack transparency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High false positive rates (20-30%)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Limited to luxury vehicle segments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No open-source alternatives exist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8B8B"/>
                </a:solidFill>
                <a:latin typeface="Calibri Light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Solution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2743200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System Architecture</a:t>
            </a:r>
          </a:p>
        </p:txBody>
      </p:sp>
      <p:pic>
        <p:nvPicPr>
          <p:cNvPr id="4" name="Picture 3" descr="component_diagram_profes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803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  <a:latin typeface="Calibri"/>
              </a:defRPr>
            </a:pPr>
            <a:r>
              <a:t>Component view showing vehicle edge, multi-cloud backend, and SOC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Deployment Architecture</a:t>
            </a:r>
          </a:p>
        </p:txBody>
      </p:sp>
      <p:pic>
        <p:nvPicPr>
          <p:cNvPr id="4" name="Picture 3" descr="deployment_diagram_profess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72302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  <a:latin typeface="Calibri"/>
              </a:defRPr>
            </a:pPr>
            <a:r>
              <a:t>Automotive-grade hardware deployment with secure boot and HSM protection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Key Technical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Real-time Detection: &lt;500ms event capture with edge ML inference using TensorFlow Lite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Tamper Evidence: Blockchain-style hash chaining ensures court-admissible forensics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Hardware Security: NXP A71CH HSM provides FIPS 140-2 Level 2 key protection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Secure Boot: U-Boot with dm-verity ensures only authentic firmware executes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Multi-Cloud: AWS (primary) + Azure (DR) + GCP (ML) prevents vendor lock-in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Environmental Hardening: IP67 enclosure, -40°C to +85°C operating range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ML Anomaly Detection: &lt;5% false positive rate vs 20-30% industry average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24/7 SOC Integration: eSentire monitoring with automated incident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8B8B"/>
                </a:solidFill>
                <a:latin typeface="Calibri Light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Security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2743200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Agile User Stories</a:t>
            </a:r>
          </a:p>
        </p:txBody>
      </p:sp>
      <p:pic>
        <p:nvPicPr>
          <p:cNvPr id="4" name="Picture 3" descr="story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8435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  <a:latin typeface="Calibri"/>
              </a:defRPr>
            </a:pPr>
            <a:r>
              <a:t>28 user stories: 7 Functional, 7 Security, 4 Non-Functional, 5 Abuse Cases, 5 Countermeasures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Use Case Diagram</a:t>
            </a:r>
          </a:p>
        </p:txBody>
      </p:sp>
      <p:pic>
        <p:nvPicPr>
          <p:cNvPr id="4" name="Picture 3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101812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  <a:latin typeface="Calibri"/>
              </a:defRPr>
            </a:pPr>
            <a:r>
              <a:t>6 automotive-specific use cases aligned with ISO/SAE 21434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Risk Assessment Matrix</a:t>
            </a:r>
          </a:p>
        </p:txBody>
      </p:sp>
      <p:pic>
        <p:nvPicPr>
          <p:cNvPr id="4" name="Picture 3" descr="risk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8435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  <a:latin typeface="Calibri"/>
              </a:defRPr>
            </a:pPr>
            <a:r>
              <a:t>17 risks analyzed across 5 categories with likelihood/impact scoring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SWOT Analysis</a:t>
            </a:r>
          </a:p>
        </p:txBody>
      </p:sp>
      <p:pic>
        <p:nvPicPr>
          <p:cNvPr id="4" name="Picture 3" descr="swo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84353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  <a:latin typeface="Calibri"/>
              </a:defRPr>
            </a:pPr>
            <a:r>
              <a:t>Strategic positioning showing 82% cost advantage and automotive-grade improvements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8B8B"/>
                </a:solidFill>
                <a:latin typeface="Calibri Light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Business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2743200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Financial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Cost per Vehicle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8B8B"/>
                </a:solidFill>
                <a:latin typeface="Calibri Light"/>
              </a:defRPr>
            </a:pPr>
            <a:r>
              <a:t>$485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Production scale (1,000 units)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600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Cost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0116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7AE60"/>
                </a:solidFill>
                <a:latin typeface="Calibri Light"/>
              </a:defRPr>
            </a:pPr>
            <a:r>
              <a:t>82%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vs ESCRYPT/Harman ($800-1,200)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600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5-Year TCO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0116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35"/>
                </a:solidFill>
                <a:latin typeface="Calibri Light"/>
              </a:defRPr>
            </a:pPr>
            <a:r>
              <a:t>$5.98M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1,000 vehicles, full operations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77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Phase 1 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Calibri Light"/>
              </a:defRPr>
            </a:pPr>
            <a:r>
              <a:t>$45,000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120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Foundation (Months 1-3)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84048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977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3891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74C3C"/>
                </a:solidFill>
                <a:latin typeface="Calibri Light"/>
              </a:defRPr>
            </a:pPr>
            <a:r>
              <a:t>2.2x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52120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Risk mitigation value / Investment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84048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40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3977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3891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0E0D0"/>
                </a:solidFill>
                <a:latin typeface="Calibri Light"/>
              </a:defRPr>
            </a:pPr>
            <a:r>
              <a:t>2,847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2120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Vehicles for payback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Project Budget &amp; Total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8B8B"/>
                </a:solidFill>
                <a:latin typeface="Calibri"/>
              </a:defRPr>
            </a:pPr>
            <a:r>
              <a:t>Commercial Pricing - No Academic Discounts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Prototype (5 vehicles): $65,000 total | $1,850 per vehicle | Hardware validation and proof of concept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Pilot (50 vehicles): $385,000 total | $1,850 per vehicle | Field testing with fleet operators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Production (1,000 vehicles): $1,485,000 total | $485 per vehicle | Economies of scale achieved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Year 1 Operations: $1,533,000 | Includes 24/7 SOC ($180K), enterprise SIEM ($48K), personnel (4 FTE)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5-Year TCO: $5,978,000 | Hardware amortized, cloud infrastructure scaling, compliance maintenance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All costs based on commercial rates: Professional engineering salaries, enterprise software licenses, certified penetration testing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4-Phase Improvement Roadmap</a:t>
            </a:r>
          </a:p>
        </p:txBody>
      </p:sp>
      <p:pic>
        <p:nvPicPr>
          <p:cNvPr id="4" name="Picture 3" descr="improvement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67482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F8C8D"/>
                </a:solidFill>
                <a:latin typeface="Calibri"/>
              </a:defRPr>
            </a:pPr>
            <a:r>
              <a:t>$1.37M investment over 24 months achieving 90% risk reduction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8B8B"/>
                </a:solidFill>
                <a:latin typeface="Calibri Light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Compliance &amp; Standards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029200"/>
            <a:ext cx="2743200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Regulatory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Calibri"/>
              </a:defRPr>
            </a:pPr>
            <a:r>
              <a:t>ISO/SAE 21434 (7/7 Work Products)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RC-01: Cybersecurity Policy 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RC-02: Risk Management 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RC-03: Security by Design 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RC-04: Validation 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RC-05: Operations 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RC-06: Incident Response 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RC-07: Forensic Readiness ✓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280160"/>
            <a:ext cx="18288" cy="5029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Calibri"/>
              </a:defRPr>
            </a:pPr>
            <a:r>
              <a:t>UN R155/R156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R155: Cyber Security Management System 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R156: Software Update Management System 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CSMS: Full implementation 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SUMS: Secure OTA logging 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Incident Response: Automated SOC 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Threat Monitoring: ML detection 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Competitive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Calibri"/>
              </a:defRPr>
            </a:pPr>
            <a:r>
              <a:t>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ESCRYPT: $800-1,200/vehicle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Harman: $600-900/vehicle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Argus: $600-900/vehicle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No open-source alternatives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No tamper-evident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280160"/>
            <a:ext cx="18288" cy="50292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  <a:latin typeface="Calibri"/>
              </a:defRPr>
            </a:pPr>
            <a:r>
              <a:t>CEDR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CEDR: $485/vehicle (82% savings)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Tamper-evident hash chaining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Open-source transparency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ML anomaly detection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Automotive-grade hardware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Key Performance Indicators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Detection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8B8B"/>
                </a:solidFill>
                <a:latin typeface="Calibri Light"/>
              </a:defRPr>
            </a:pPr>
            <a:r>
              <a:t>&lt;500ms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Edge ML inference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600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False Positive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0116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7AE60"/>
                </a:solidFill>
                <a:latin typeface="Calibri Light"/>
              </a:defRPr>
            </a:pPr>
            <a:r>
              <a:t>&lt;5%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vs 20-30% industry avg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600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System Uptime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0116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6B35"/>
                </a:solidFill>
                <a:latin typeface="Calibri Light"/>
              </a:defRPr>
            </a:pPr>
            <a:r>
              <a:t>99.9%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Multi-cloud SLA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977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Temperature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891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5F"/>
                </a:solidFill>
                <a:latin typeface="Calibri Light"/>
              </a:defRPr>
            </a:pPr>
            <a:r>
              <a:t>-40°C to +85°C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2120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AEC-Q100 Grade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384048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3977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Attack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3891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74C3C"/>
                </a:solidFill>
                <a:latin typeface="Calibri Light"/>
              </a:defRPr>
            </a:pPr>
            <a:r>
              <a:t>50+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52120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Test scenarios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840480"/>
            <a:ext cx="3474720" cy="21031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40E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3977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  <a:latin typeface="Calibri"/>
              </a:defRPr>
            </a:pPr>
            <a:r>
              <a:t>Risk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3891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0E0D0"/>
                </a:solidFill>
                <a:latin typeface="Calibri Light"/>
              </a:defRPr>
            </a:pPr>
            <a:r>
              <a:t>63%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52120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C3E50"/>
                </a:solidFill>
                <a:latin typeface="Calibri"/>
              </a:defRPr>
            </a:pPr>
            <a:r>
              <a:t>Medium-High to Low-Medium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Investment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008B8B"/>
                </a:solidFill>
                <a:latin typeface="Calibri"/>
              </a:defRPr>
            </a:pPr>
            <a:r>
              <a:t>$45,000 unlocks $1.37M roadmap and positions for 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We are seeking $45,000 for Phase 1: Foundation (Months 1-3)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Deliverables: 10x CM4 Industrial units, NXP A71CH HSM integration, IP67 enclosures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Milestones: Environmental testing complete, 25 attack scenarios validated, pilot customer LOI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Risk Reduction: 40% improvement (overall risk score 11.3 → 6.8)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Next Steps: Phase 2 hardening ($120K) and Phase 3 production ($285K)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Timeline to Market: 12 months to production readiness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 Light"/>
              </a:defRPr>
            </a:pPr>
            <a:r>
              <a:t>Team Cyber-Torque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St. Clair College | Diploma in Cybersecurity Program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CYB408-26W-001 | Automobility Cybersecurity Capstone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Specialization: Automotive cybersecurity, embedded systems, cloud security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Advisory: Industry mentors from automotive OEMs and cybersecurity firms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Competencies: ISO 21434, UN R155, penetration testing, ML/AI, embedded development</a:t>
            </a:r>
          </a:p>
          <a:p>
            <a:pPr>
              <a:spcAft>
                <a:spcPts val="1200"/>
              </a:spcAft>
              <a:defRPr sz="1800">
                <a:solidFill>
                  <a:srgbClr val="2C3E50"/>
                </a:solidFill>
                <a:latin typeface="Calibri"/>
              </a:defRPr>
            </a:pPr>
            <a:r>
              <a:t>• Recognition: St. Clair Cybersecurity Club leadership and CTF competition winners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3200400"/>
            <a:ext cx="4876495" cy="9144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E0D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Calibri"/>
              </a:defRPr>
            </a:pPr>
            <a:r>
              <a:t>Team Cyber-Torque | CYB408 Capstone</a:t>
            </a:r>
          </a:p>
          <a:p>
            <a:pPr algn="ctr">
              <a:spcBef>
                <a:spcPts val="1200"/>
              </a:spcBef>
              <a:defRPr sz="1400">
                <a:solidFill>
                  <a:srgbClr val="7F8C8D"/>
                </a:solidFill>
              </a:defRPr>
            </a:pPr>
            <a:r>
              <a:t>St. Clair College | Windsor, 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