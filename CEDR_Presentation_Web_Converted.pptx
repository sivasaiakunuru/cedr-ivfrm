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0" y="1371600"/>
            <a:ext cx="2103120" cy="2103120"/>
          </a:xfrm>
          <a:prstGeom prst="roundRect">
            <a:avLst/>
          </a:prstGeom>
          <a:gradFill rotWithShape="1">
            <a:gsLst>
              <a:gs pos="0">
                <a:srgbClr val="635BFF"/>
              </a:gs>
              <a:gs pos="100000">
                <a:srgbClr val="00D4AA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CEDR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Cybersecurity Event Data Recorder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CCCCC"/>
                </a:solidFill>
              </a:defRPr>
            </a:pPr>
            <a:r>
              <a:t>In-Vehicle Forensic Readiness Module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8047" y="5303520"/>
            <a:ext cx="2286000" cy="365760"/>
          </a:xfrm>
          <a:prstGeom prst="roundRect">
            <a:avLst/>
          </a:prstGeom>
          <a:gradFill rotWithShape="1">
            <a:gsLst>
              <a:gs pos="0">
                <a:srgbClr val="635BFF"/>
              </a:gs>
              <a:gs pos="100000">
                <a:srgbClr val="00D4AA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ISO/SAE 21434 Compliant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38447" y="5303520"/>
            <a:ext cx="2286000" cy="365760"/>
          </a:xfrm>
          <a:prstGeom prst="roundRect">
            <a:avLst/>
          </a:prstGeom>
          <a:gradFill rotWithShape="1">
            <a:gsLst>
              <a:gs pos="0">
                <a:srgbClr val="635BFF"/>
              </a:gs>
              <a:gs pos="100000">
                <a:srgbClr val="00D4AA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UN R155/R156 Ready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38847" y="5303520"/>
            <a:ext cx="2286000" cy="365760"/>
          </a:xfrm>
          <a:prstGeom prst="roundRect">
            <a:avLst/>
          </a:prstGeom>
          <a:gradFill rotWithShape="1">
            <a:gsLst>
              <a:gs pos="0">
                <a:srgbClr val="635BFF"/>
              </a:gs>
              <a:gs pos="100000">
                <a:srgbClr val="00D4AA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ML-Powered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99999"/>
                </a:solidFill>
              </a:defRPr>
            </a:pPr>
            <a:r>
              <a:t>Team Cyber-Torque | CYB408 Capstone | St. Clair College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D4AA"/>
                </a:solidFill>
              </a:defRPr>
            </a:pPr>
            <a:r>
              <a:t>The Critical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2000">
                <a:solidFill>
                  <a:srgbClr val="FFFFFF"/>
                </a:solidFill>
              </a:defRPr>
            </a:pPr>
            <a:r>
              <a:t>▸ 100+ ECUs: Modern vehicles contain 100+ ECUs generating terabytes of data with no standardized security event logging.</a:t>
            </a:r>
          </a:p>
          <a:p>
            <a:pPr>
              <a:spcBef>
                <a:spcPts val="1600"/>
              </a:spcBef>
              <a:defRPr sz="2000">
                <a:solidFill>
                  <a:srgbClr val="FFFFFF"/>
                </a:solidFill>
              </a:defRPr>
            </a:pPr>
            <a:r>
              <a:t>▸ 287 Days: Average breach detection time in automotive systems, leaving attackers with extended dwell time.</a:t>
            </a:r>
          </a:p>
          <a:p>
            <a:pPr>
              <a:spcBef>
                <a:spcPts val="1600"/>
              </a:spcBef>
              <a:defRPr sz="2000">
                <a:solidFill>
                  <a:srgbClr val="FFFFFF"/>
                </a:solidFill>
              </a:defRPr>
            </a:pPr>
            <a:r>
              <a:t>▸ 40% Denial: Insurance claim denial rate due to lack of tamper-evident forensic evidence after cyber incidents.</a:t>
            </a:r>
          </a:p>
          <a:p>
            <a:pPr>
              <a:spcBef>
                <a:spcPts val="1600"/>
              </a:spcBef>
              <a:defRPr sz="2000">
                <a:solidFill>
                  <a:srgbClr val="FFFFFF"/>
                </a:solidFill>
              </a:defRPr>
            </a:pPr>
            <a:r>
              <a:t>▸ €30M Fines: Regulatory fines under UN R155 for non-compliance with cybersecurity management systems.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D4AA"/>
                </a:solidFill>
              </a:defRPr>
            </a:pPr>
            <a:r>
              <a:t>CEDR Solution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8047" y="1828800"/>
            <a:ext cx="3200400" cy="2743200"/>
          </a:xfrm>
          <a:prstGeom prst="roundRect">
            <a:avLst/>
          </a:prstGeom>
          <a:solidFill>
            <a:srgbClr val="1E3A5F"/>
          </a:solidFill>
          <a:ln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0927" y="2286000"/>
            <a:ext cx="28346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D4AA"/>
                </a:solidFill>
              </a:defRPr>
            </a:pPr>
            <a:r>
              <a:t>$485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0927" y="3291840"/>
            <a:ext cx="28346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CCCCC"/>
                </a:solidFill>
              </a:defRPr>
            </a:pPr>
            <a:r>
              <a:t>Per Vehicle Cost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95647" y="1828800"/>
            <a:ext cx="3200400" cy="2743200"/>
          </a:xfrm>
          <a:prstGeom prst="roundRect">
            <a:avLst/>
          </a:prstGeom>
          <a:solidFill>
            <a:srgbClr val="1E3A5F"/>
          </a:solidFill>
          <a:ln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78527" y="2286000"/>
            <a:ext cx="28346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D4AA"/>
                </a:solidFill>
              </a:defRPr>
            </a:pPr>
            <a:r>
              <a:t>82%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8527" y="3291840"/>
            <a:ext cx="28346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CCCCC"/>
                </a:solidFill>
              </a:defRPr>
            </a:pPr>
            <a:r>
              <a:t>Cost Advantage vs Competitors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53247" y="1828800"/>
            <a:ext cx="3200400" cy="2743200"/>
          </a:xfrm>
          <a:prstGeom prst="roundRect">
            <a:avLst/>
          </a:prstGeom>
          <a:solidFill>
            <a:srgbClr val="1E3A5F"/>
          </a:solidFill>
          <a:ln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6127" y="2286000"/>
            <a:ext cx="28346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D4AA"/>
                </a:solidFill>
              </a:defRPr>
            </a:pPr>
            <a:r>
              <a:t>&lt;500ms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6127" y="3291840"/>
            <a:ext cx="28346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CCCCC"/>
                </a:solidFill>
              </a:defRPr>
            </a:pPr>
            <a:r>
              <a:t>Detection Latency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D4AA"/>
                </a:solidFill>
              </a:defRPr>
            </a:pPr>
            <a:r>
              <a:t>System Architecture - Vehicle Edge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2000">
                <a:solidFill>
                  <a:srgbClr val="FFFFFF"/>
                </a:solidFill>
              </a:defRPr>
            </a:pPr>
            <a:r>
              <a:t>▸ CAN Bus Interface: Real-time vehicle network monitoring with &lt;10ms latency</a:t>
            </a:r>
          </a:p>
          <a:p>
            <a:pPr>
              <a:spcBef>
                <a:spcPts val="1600"/>
              </a:spcBef>
              <a:defRPr sz="2000">
                <a:solidFill>
                  <a:srgbClr val="FFFFFF"/>
                </a:solidFill>
              </a:defRPr>
            </a:pPr>
            <a:r>
              <a:t>▸ GPS/GNSS Receiver: Location and timestamp correlation for forensic evidence</a:t>
            </a:r>
          </a:p>
          <a:p>
            <a:pPr>
              <a:spcBef>
                <a:spcPts val="1600"/>
              </a:spcBef>
              <a:defRPr sz="2000">
                <a:solidFill>
                  <a:srgbClr val="FFFFFF"/>
                </a:solidFill>
              </a:defRPr>
            </a:pPr>
            <a:r>
              <a:t>▸ 4G/LTE Cellular: Secure cloud connectivity via encrypted TLS 1.3</a:t>
            </a:r>
          </a:p>
          <a:p>
            <a:pPr>
              <a:spcBef>
                <a:spcPts val="1600"/>
              </a:spcBef>
              <a:defRPr sz="2000">
                <a:solidFill>
                  <a:srgbClr val="FFFFFF"/>
                </a:solidFill>
              </a:defRPr>
            </a:pPr>
            <a:r>
              <a:t>▸ CEDR Core Module: Raspberry Pi CM4 Industrial with TensorFlow Lite ML inference</a:t>
            </a:r>
          </a:p>
          <a:p>
            <a:pPr>
              <a:spcBef>
                <a:spcPts val="1600"/>
              </a:spcBef>
              <a:defRPr sz="2000">
                <a:solidFill>
                  <a:srgbClr val="FFFFFF"/>
                </a:solidFill>
              </a:defRPr>
            </a:pPr>
            <a:r>
              <a:t>▸ NXP A71CH HSM: Secure key storage and crypto acceleration (FIPS 140-2 Level 2)</a:t>
            </a:r>
          </a:p>
          <a:p>
            <a:pPr>
              <a:spcBef>
                <a:spcPts val="1600"/>
              </a:spcBef>
              <a:defRPr sz="2000">
                <a:solidFill>
                  <a:srgbClr val="FFFFFF"/>
                </a:solidFill>
              </a:defRPr>
            </a:pPr>
            <a:r>
              <a:t>▸ Tamper Detection: Enclosure breach sensors and temperature monitoring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D4AA"/>
                </a:solidFill>
              </a:defRPr>
            </a:pPr>
            <a:r>
              <a:t>Cloud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2000">
                <a:solidFill>
                  <a:srgbClr val="FFFFFF"/>
                </a:solidFill>
              </a:defRPr>
            </a:pPr>
            <a:r>
              <a:t>▸ Multi-Cloud Architecture: AWS (Primary) + Azure (Backup/DR) + GCP (ML Training)</a:t>
            </a:r>
          </a:p>
          <a:p>
            <a:pPr>
              <a:spcBef>
                <a:spcPts val="1600"/>
              </a:spcBef>
              <a:defRPr sz="2000">
                <a:solidFill>
                  <a:srgbClr val="FFFFFF"/>
                </a:solidFill>
              </a:defRPr>
            </a:pPr>
            <a:r>
              <a:t>▸ Kubernetes Cluster: Containerized microservices for scalability and resilience</a:t>
            </a:r>
          </a:p>
          <a:p>
            <a:pPr>
              <a:spcBef>
                <a:spcPts val="1600"/>
              </a:spcBef>
              <a:defRPr sz="2000">
                <a:solidFill>
                  <a:srgbClr val="FFFFFF"/>
                </a:solidFill>
              </a:defRPr>
            </a:pPr>
            <a:r>
              <a:t>▸ API Gateway: Kong/AWS for secure API management and rate limiting</a:t>
            </a:r>
          </a:p>
          <a:p>
            <a:pPr>
              <a:spcBef>
                <a:spcPts val="1600"/>
              </a:spcBef>
              <a:defRPr sz="2000">
                <a:solidFill>
                  <a:srgbClr val="FFFFFF"/>
                </a:solidFill>
              </a:defRPr>
            </a:pPr>
            <a:r>
              <a:t>▸ Event Processor: Real-time stream processing with Apache Kafka</a:t>
            </a:r>
          </a:p>
          <a:p>
            <a:pPr>
              <a:spcBef>
                <a:spcPts val="1600"/>
              </a:spcBef>
              <a:defRPr sz="2000">
                <a:solidFill>
                  <a:srgbClr val="FFFFFF"/>
                </a:solidFill>
              </a:defRPr>
            </a:pPr>
            <a:r>
              <a:t>▸ ML Inference: Vertex AI for anomaly detection model serving</a:t>
            </a:r>
          </a:p>
          <a:p>
            <a:pPr>
              <a:spcBef>
                <a:spcPts val="1600"/>
              </a:spcBef>
              <a:defRPr sz="2000">
                <a:solidFill>
                  <a:srgbClr val="FFFFFF"/>
                </a:solidFill>
              </a:defRPr>
            </a:pPr>
            <a:r>
              <a:t>▸ PostgreSQL + InfluxDB: Relational and time-series data storage</a:t>
            </a:r>
          </a:p>
          <a:p>
            <a:pPr>
              <a:spcBef>
                <a:spcPts val="1600"/>
              </a:spcBef>
              <a:defRPr sz="2000">
                <a:solidFill>
                  <a:srgbClr val="FFFFFF"/>
                </a:solidFill>
              </a:defRPr>
            </a:pPr>
            <a:r>
              <a:t>▸ Blockchain Audit Log: Immutable evidence chain for legal proceedings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D4AA"/>
                </a:solidFill>
              </a:defRPr>
            </a:pPr>
            <a:r>
              <a:t>Security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▸ AES-256-GCM: Encryption for data at rest with hardware acceleration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▸ SHA-256 Hash Chaining: Tamper-evident logging with cryptographic integrity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▸ TLS 1.3: Latest transport security for data in transit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9728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▸ NXP A71CH Secure Element: Hardware-based key protection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▸ Physical Security: Enclosure breach detection and anti-tamper mesh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▸ Secure Boot: Verified boot chain with signed firmware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▸ Zero-Trust Architecture: Continuous verification and micro-segmentation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D4AA"/>
                </a:solidFill>
              </a:defRPr>
            </a:pPr>
            <a:r>
              <a:t>Agile User Stories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2000">
                <a:solidFill>
                  <a:srgbClr val="FFFFFF"/>
                </a:solidFill>
              </a:defRPr>
            </a:pPr>
            <a:r>
              <a:t>▸ 28 comprehensive user stories covering functional, security, and abuse cases</a:t>
            </a:r>
          </a:p>
          <a:p>
            <a:pPr>
              <a:spcBef>
                <a:spcPts val="1600"/>
              </a:spcBef>
              <a:defRPr sz="2000">
                <a:solidFill>
                  <a:srgbClr val="FFFFFF"/>
                </a:solidFill>
              </a:defRPr>
            </a:pPr>
            <a:r>
              <a:t>▸ Functional Stories: Real-time alerts, forensic search, fleet correlation, OTA logging</a:t>
            </a:r>
          </a:p>
          <a:p>
            <a:pPr>
              <a:spcBef>
                <a:spcPts val="1600"/>
              </a:spcBef>
              <a:defRPr sz="2000">
                <a:solidFill>
                  <a:srgbClr val="FFFFFF"/>
                </a:solidFill>
              </a:defRPr>
            </a:pPr>
            <a:r>
              <a:t>▸ Security Stories: Tamper evidence, encryption, MFA, RBAC, HSM integration</a:t>
            </a:r>
          </a:p>
          <a:p>
            <a:pPr>
              <a:spcBef>
                <a:spcPts val="1600"/>
              </a:spcBef>
              <a:defRPr sz="2000">
                <a:solidFill>
                  <a:srgbClr val="FFFFFF"/>
                </a:solidFill>
              </a:defRPr>
            </a:pPr>
            <a:r>
              <a:t>▸ Abuse Cases: Attacker modifying logs, MITM attacks, insider threats</a:t>
            </a:r>
          </a:p>
          <a:p>
            <a:pPr>
              <a:spcBef>
                <a:spcPts val="1600"/>
              </a:spcBef>
              <a:defRPr sz="2000">
                <a:solidFill>
                  <a:srgbClr val="FFFFFF"/>
                </a:solidFill>
              </a:defRPr>
            </a:pPr>
            <a:r>
              <a:t>▸ Countermeasures: Immutable audit trail, certificate pinning, DLP monitoring</a:t>
            </a:r>
          </a:p>
          <a:p>
            <a:pPr>
              <a:spcBef>
                <a:spcPts val="1600"/>
              </a:spcBef>
              <a:defRPr sz="2000">
                <a:solidFill>
                  <a:srgbClr val="FFFFFF"/>
                </a:solidFill>
              </a:defRPr>
            </a:pPr>
            <a:r>
              <a:t>▸ Traceability Matrix: Each story maps to requirements → threats → tests → components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D4AA"/>
                </a:solidFill>
              </a:defRPr>
            </a:pPr>
            <a:r>
              <a:t>Automotive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▸ Secure Vehicle Access: Biometric authentication with forensic logging of all attempts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▸ OTA Update Authentication: Cryptographic verification with rollback protection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▸ IDS Alert Management: Real-time intrusion detection with automated response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9728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▸ Secure ECU-to-Cloud: End-to-end encrypted telemetry with mutual authentication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▸ Driver Identity Verification: Continuous authentication with behavioral biometrics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▸ Misuse Case: Firmware flashing attacks detected and logged for investigation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D4AA"/>
                </a:solidFill>
              </a:defRPr>
            </a:pPr>
            <a:r>
              <a:t>UML Diagram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2000">
                <a:solidFill>
                  <a:srgbClr val="FFFFFF"/>
                </a:solidFill>
              </a:defRPr>
            </a:pPr>
            <a:r>
              <a:t>▸ Use Case Diagrams: Driver, Mechanic, Cloud Service, Attacker actors</a:t>
            </a:r>
          </a:p>
          <a:p>
            <a:pPr>
              <a:spcBef>
                <a:spcPts val="1600"/>
              </a:spcBef>
              <a:defRPr sz="2000">
                <a:solidFill>
                  <a:srgbClr val="FFFFFF"/>
                </a:solidFill>
              </a:defRPr>
            </a:pPr>
            <a:r>
              <a:t>▸ Sequence Diagrams: Message flows Vehicle→Cloud, ECU→IDS→Alert Service</a:t>
            </a:r>
          </a:p>
          <a:p>
            <a:pPr>
              <a:spcBef>
                <a:spcPts val="1600"/>
              </a:spcBef>
              <a:defRPr sz="2000">
                <a:solidFill>
                  <a:srgbClr val="FFFFFF"/>
                </a:solidFill>
              </a:defRPr>
            </a:pPr>
            <a:r>
              <a:t>▸ Component Diagrams: CAN, Automotive Ethernet, ECU layout, HSMs, Cloud</a:t>
            </a:r>
          </a:p>
          <a:p>
            <a:pPr>
              <a:spcBef>
                <a:spcPts val="1600"/>
              </a:spcBef>
              <a:defRPr sz="2000">
                <a:solidFill>
                  <a:srgbClr val="FFFFFF"/>
                </a:solidFill>
              </a:defRPr>
            </a:pPr>
            <a:r>
              <a:t>▸ Deployment Diagrams: Physical architecture across edge and cloud regions</a:t>
            </a:r>
          </a:p>
          <a:p>
            <a:pPr>
              <a:spcBef>
                <a:spcPts val="1600"/>
              </a:spcBef>
              <a:defRPr sz="2000">
                <a:solidFill>
                  <a:srgbClr val="FFFFFF"/>
                </a:solidFill>
              </a:defRPr>
            </a:pPr>
            <a:r>
              <a:t>▸ Activity Diagrams: Incident detection → Logging → Alert escalation</a:t>
            </a:r>
          </a:p>
          <a:p>
            <a:pPr>
              <a:spcBef>
                <a:spcPts val="1600"/>
              </a:spcBef>
              <a:defRPr sz="2000">
                <a:solidFill>
                  <a:srgbClr val="FFFFFF"/>
                </a:solidFill>
              </a:defRPr>
            </a:pPr>
            <a:r>
              <a:t>▸ Class Diagrams: SecurityEvent, HashChain, Evidence, Alert data models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D4AA"/>
                </a:solidFill>
              </a:defRPr>
            </a:pPr>
            <a:r>
              <a:t>Risk Analysis &amp; SWOT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▸ Supply Chain Risk: HIGH - Mitigated via SBOM and vendor validation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▸ Crypto Agility: HIGH - Post-quantum cryptography migration plan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▸ Scalability: MEDIUM - Auto-scaling cloud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9728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▸ Integration: MEDIUM - Standard APIs and HAL abstraction layer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▸ Strengths: 82% cost advantage, ISO 21434 compliant, &lt;500ms latency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▸ Opportunities: UN R155 mandate, insurance partnerships, OEM integration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D4AA"/>
                </a:solidFill>
              </a:defRPr>
            </a:pPr>
            <a:r>
              <a:t>Project Budget &amp; TCO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548639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D4AA"/>
                          </a:solidFill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D4AA"/>
                          </a:solidFill>
                        </a:defRPr>
                      </a:pPr>
                      <a:r>
                        <a:t>Investment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D4AA"/>
                          </a:solidFill>
                        </a:defRPr>
                      </a:pPr>
                      <a:r>
                        <a:t>Timeline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D4AA"/>
                          </a:solidFill>
                        </a:defRPr>
                      </a:pPr>
                      <a:r>
                        <a:t>Risk Reduction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D4AA"/>
                          </a:solidFill>
                        </a:defRPr>
                      </a:pPr>
                      <a:r>
                        <a:t>Deliverables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Phase 1: Foundation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$45,000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Months 1-3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Prototype, basic logging</a:t>
                      </a:r>
                    </a:p>
                  </a:txBody>
                  <a:tcPr/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Phase 2: Hardening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$120,000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Months 4-6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65%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ML detection, encryption</a:t>
                      </a:r>
                    </a:p>
                  </a:txBody>
                  <a:tcPr/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Phase 3: Production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$285,000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Months 7-12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AEC-Q100, compliance audit</a:t>
                      </a:r>
                    </a:p>
                  </a:txBody>
                  <a:tcPr/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Phase 4: Scale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$850,000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Months 13-24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1,000 vehicle deployment</a:t>
                      </a:r>
                    </a:p>
                  </a:txBody>
                  <a:tcPr/>
                </a:tc>
              </a:tr>
              <a:tr h="54864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$1.37M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24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Full production system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D4AA"/>
                </a:solidFill>
              </a:defRPr>
            </a:pPr>
            <a:r>
              <a:t>Hardware &amp; BOM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5486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D4AA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D4AA"/>
                          </a:solidFill>
                        </a:defRPr>
                      </a:pPr>
                      <a:r>
                        <a:t>Prototype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D4AA"/>
                          </a:solidFill>
                        </a:defRPr>
                      </a:pPr>
                      <a:r>
                        <a:t>Production (1K+)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Raspberry Pi CM4 / Custom ARM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$85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$65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NXP A71CH Secure Element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$12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$8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CAN Bus / Ethernet PHY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$25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$15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4G/LTE Cellular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$45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$32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GPS/GNSS Receiver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$18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Integrated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Enclosure &amp; Sensors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$35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$25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Assembly &amp; 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$25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Certification (amortized)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$40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TOTAL UNIT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$220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$185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D4AA"/>
                </a:solidFill>
              </a:defRPr>
            </a:pPr>
            <a:r>
              <a:t>Regulatory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2000">
                <a:solidFill>
                  <a:srgbClr val="FFFFFF"/>
                </a:solidFill>
              </a:defRPr>
            </a:pPr>
            <a:r>
              <a:t>▸ ISO/SAE 21434: Complete coverage (7/7 work products)</a:t>
            </a:r>
          </a:p>
          <a:p>
            <a:pPr>
              <a:spcBef>
                <a:spcPts val="1600"/>
              </a:spcBef>
              <a:defRPr sz="2000">
                <a:solidFill>
                  <a:srgbClr val="FFFFFF"/>
                </a:solidFill>
              </a:defRPr>
            </a:pPr>
            <a:r>
              <a:t>▸ UN R155: Cybersecurity Management System (CSMS) compliant</a:t>
            </a:r>
          </a:p>
          <a:p>
            <a:pPr>
              <a:spcBef>
                <a:spcPts val="1600"/>
              </a:spcBef>
              <a:defRPr sz="2000">
                <a:solidFill>
                  <a:srgbClr val="FFFFFF"/>
                </a:solidFill>
              </a:defRPr>
            </a:pPr>
            <a:r>
              <a:t>▸ UN R156: Software Update Management System (SUMS) ready</a:t>
            </a:r>
          </a:p>
          <a:p>
            <a:pPr>
              <a:spcBef>
                <a:spcPts val="1600"/>
              </a:spcBef>
              <a:defRPr sz="2000">
                <a:solidFill>
                  <a:srgbClr val="FFFFFF"/>
                </a:solidFill>
              </a:defRPr>
            </a:pPr>
            <a:r>
              <a:t>▸ AEC-Q100: Automotive qualification (Phase 3)</a:t>
            </a:r>
          </a:p>
          <a:p>
            <a:pPr>
              <a:spcBef>
                <a:spcPts val="1600"/>
              </a:spcBef>
              <a:defRPr sz="2000">
                <a:solidFill>
                  <a:srgbClr val="FFFFFF"/>
                </a:solidFill>
              </a:defRPr>
            </a:pPr>
            <a:r>
              <a:t>▸ CSMS: Organizational governance, risk management, incident response</a:t>
            </a:r>
          </a:p>
          <a:p>
            <a:pPr>
              <a:spcBef>
                <a:spcPts val="1600"/>
              </a:spcBef>
              <a:defRPr sz="2000">
                <a:solidFill>
                  <a:srgbClr val="FFFFFF"/>
                </a:solidFill>
              </a:defRPr>
            </a:pPr>
            <a:r>
              <a:t>▸ SUMS: Software update process, verification, user notification</a:t>
            </a:r>
          </a:p>
          <a:p>
            <a:pPr>
              <a:spcBef>
                <a:spcPts val="1600"/>
              </a:spcBef>
              <a:defRPr sz="2000">
                <a:solidFill>
                  <a:srgbClr val="FFFFFF"/>
                </a:solidFill>
              </a:defRPr>
            </a:pPr>
            <a:r>
              <a:t>▸ Forensic evidence satisfies UN R155 incident response obligations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D4AA"/>
                </a:solidFill>
              </a:defRPr>
            </a:pPr>
            <a:r>
              <a:t>DevSecOps &amp; Tooling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2000">
                <a:solidFill>
                  <a:srgbClr val="FFFFFF"/>
                </a:solidFill>
              </a:defRPr>
            </a:pPr>
            <a:r>
              <a:t>▸ CI/CD Pipeline: GitHub Actions, Docker, Kubernetes, Terraform</a:t>
            </a:r>
          </a:p>
          <a:p>
            <a:pPr>
              <a:spcBef>
                <a:spcPts val="1600"/>
              </a:spcBef>
              <a:defRPr sz="2000">
                <a:solidFill>
                  <a:srgbClr val="FFFFFF"/>
                </a:solidFill>
              </a:defRPr>
            </a:pPr>
            <a:r>
              <a:t>▸ Security Testing: SAST (SonarQube), DAST (OWASP ZAP), SCA (Snyk), Fuzzing (AFL)</a:t>
            </a:r>
          </a:p>
          <a:p>
            <a:pPr>
              <a:spcBef>
                <a:spcPts val="1600"/>
              </a:spcBef>
              <a:defRPr sz="2000">
                <a:solidFill>
                  <a:srgbClr val="FFFFFF"/>
                </a:solidFill>
              </a:defRPr>
            </a:pPr>
            <a:r>
              <a:t>▸ Artifact Management: SBOM generation, firmware signing, secret management</a:t>
            </a:r>
          </a:p>
          <a:p>
            <a:pPr>
              <a:spcBef>
                <a:spcPts val="1600"/>
              </a:spcBef>
              <a:defRPr sz="2000">
                <a:solidFill>
                  <a:srgbClr val="FFFFFF"/>
                </a:solidFill>
              </a:defRPr>
            </a:pPr>
            <a:r>
              <a:t>▸ Security Champion Model: Embedded security stakeholders in dev teams</a:t>
            </a:r>
          </a:p>
          <a:p>
            <a:pPr>
              <a:spcBef>
                <a:spcPts val="1600"/>
              </a:spcBef>
              <a:defRPr sz="2000">
                <a:solidFill>
                  <a:srgbClr val="FFFFFF"/>
                </a:solidFill>
              </a:defRPr>
            </a:pPr>
            <a:r>
              <a:t>▸ Shift-Left Integration: Threat modeling in sprint planning</a:t>
            </a:r>
          </a:p>
          <a:p>
            <a:pPr>
              <a:spcBef>
                <a:spcPts val="1600"/>
              </a:spcBef>
              <a:defRPr sz="2000">
                <a:solidFill>
                  <a:srgbClr val="FFFFFF"/>
                </a:solidFill>
              </a:defRPr>
            </a:pPr>
            <a:r>
              <a:t>▸ Abuse case identification before architecture hardens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D4AA"/>
                </a:solidFill>
              </a:defRPr>
            </a:pPr>
            <a:r>
              <a:t>Cloud Infrastructure Costs (AWS)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5486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D4AA"/>
                          </a:solidFill>
                        </a:defRPr>
                      </a:pPr>
                      <a:r>
                        <a:t>Service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D4AA"/>
                          </a:solidFill>
                        </a:defRPr>
                      </a:pPr>
                      <a:r>
                        <a:t>Monthly Cost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EC2 (Kubernetes nodes)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$850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S3 Storage (30-day retention)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$420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Data Transfer (Egress)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$380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CloudWatch (Monitoring)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$180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KMS (Key Management)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$120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Secrets 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$80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Support Plan (Business)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$250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TOTAL MONTHLY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$2,280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ANNUAL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$27,360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D4AA"/>
                </a:solidFill>
              </a:defRPr>
            </a:pPr>
            <a:r>
              <a:t>Development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45720" cy="4572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371600"/>
            <a:ext cx="274320" cy="27432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280160" y="1280160"/>
            <a:ext cx="10058400" cy="1005840"/>
          </a:xfrm>
          <a:prstGeom prst="roundRect">
            <a:avLst/>
          </a:prstGeom>
          <a:solidFill>
            <a:srgbClr val="1E3A5F"/>
          </a:solidFill>
          <a:ln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141732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D4AA"/>
                </a:solidFill>
              </a:defRPr>
            </a:pPr>
            <a:r>
              <a:t>Phase 1: Foundation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7373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CCCCC"/>
                </a:solidFill>
              </a:defRPr>
            </a:pPr>
            <a:r>
              <a:t>Hardware prototyping, basic CAN logging, cloud connectivity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50876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D4AA"/>
                </a:solidFill>
              </a:defRPr>
            </a:pPr>
            <a:r>
              <a:t>$45,000 | Risk: 40%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2651760"/>
            <a:ext cx="274320" cy="27432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80160" y="2560320"/>
            <a:ext cx="10058400" cy="1005840"/>
          </a:xfrm>
          <a:prstGeom prst="roundRect">
            <a:avLst/>
          </a:prstGeom>
          <a:solidFill>
            <a:srgbClr val="1E3A5F"/>
          </a:solidFill>
          <a:ln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0" y="26974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D4AA"/>
                </a:solidFill>
              </a:defRPr>
            </a:pPr>
            <a:r>
              <a:t>Phase 2: Hardening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0175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CCCCC"/>
                </a:solidFill>
              </a:defRPr>
            </a:pPr>
            <a:r>
              <a:t>ML model integration, cryptographic protections, tamper detection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78892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D4AA"/>
                </a:solidFill>
              </a:defRPr>
            </a:pPr>
            <a:r>
              <a:t>$120,000 | Risk: 65%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3931920"/>
            <a:ext cx="274320" cy="27432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280160" y="3840480"/>
            <a:ext cx="10058400" cy="1005840"/>
          </a:xfrm>
          <a:prstGeom prst="roundRect">
            <a:avLst/>
          </a:prstGeom>
          <a:solidFill>
            <a:srgbClr val="1E3A5F"/>
          </a:solidFill>
          <a:ln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63040" y="397764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D4AA"/>
                </a:solidFill>
              </a:defRPr>
            </a:pPr>
            <a:r>
              <a:t>Phase 3: Production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2976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CCCCC"/>
                </a:solidFill>
              </a:defRPr>
            </a:pPr>
            <a:r>
              <a:t>AEC-Q100 qualification, compliance audits, pilot fleet (50 vehicles)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06908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D4AA"/>
                </a:solidFill>
              </a:defRPr>
            </a:pPr>
            <a:r>
              <a:t>$285,000 | Risk: 80%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5212079"/>
            <a:ext cx="274320" cy="27432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280160" y="5120639"/>
            <a:ext cx="10058400" cy="1005840"/>
          </a:xfrm>
          <a:prstGeom prst="roundRect">
            <a:avLst/>
          </a:prstGeom>
          <a:solidFill>
            <a:srgbClr val="1E3A5F"/>
          </a:solidFill>
          <a:ln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63040" y="5257799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D4AA"/>
                </a:solidFill>
              </a:defRPr>
            </a:pPr>
            <a:r>
              <a:t>Phase 4: Scale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577839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CCCCC"/>
                </a:solidFill>
              </a:defRPr>
            </a:pPr>
            <a:r>
              <a:t>Mass production, 1,000 vehicle deployment, continuous monitoring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5349239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D4AA"/>
                </a:solidFill>
              </a:defRPr>
            </a:pPr>
            <a:r>
              <a:t>$850,000 | Risk: 90%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D4AA"/>
                </a:solidFill>
              </a:defRPr>
            </a:pPr>
            <a:r>
              <a:t>Team Cyber-Torque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2000">
                <a:solidFill>
                  <a:srgbClr val="FFFFFF"/>
                </a:solidFill>
              </a:defRPr>
            </a:pPr>
            <a:r>
              <a:t>▸ Course: CYB408-26W-001 Automobility Cybersecurity CAP</a:t>
            </a:r>
          </a:p>
          <a:p>
            <a:pPr>
              <a:spcBef>
                <a:spcPts val="1600"/>
              </a:spcBef>
              <a:defRPr sz="2000">
                <a:solidFill>
                  <a:srgbClr val="FFFFFF"/>
                </a:solidFill>
              </a:defRPr>
            </a:pPr>
            <a:r>
              <a:t>▸ Institution: St. Clair College, Chatham, Ontario</a:t>
            </a:r>
          </a:p>
          <a:p>
            <a:pPr>
              <a:spcBef>
                <a:spcPts val="1600"/>
              </a:spcBef>
              <a:defRPr sz="2000">
                <a:solidFill>
                  <a:srgbClr val="FFFFFF"/>
                </a:solidFill>
              </a:defRPr>
            </a:pPr>
            <a:r>
              <a:t>▸ Project Type: Capstone Project 2024-2025</a:t>
            </a:r>
          </a:p>
          <a:p>
            <a:pPr>
              <a:spcBef>
                <a:spcPts val="1600"/>
              </a:spcBef>
              <a:defRPr sz="2000">
                <a:solidFill>
                  <a:srgbClr val="FFFFFF"/>
                </a:solidFill>
              </a:defRPr>
            </a:pPr>
            <a:r>
              <a:t>▸ Advisors: Industry consultants and academic reviewers</a:t>
            </a:r>
          </a:p>
          <a:p>
            <a:pPr>
              <a:spcBef>
                <a:spcPts val="1600"/>
              </a:spcBef>
              <a:defRPr sz="2000">
                <a:solidFill>
                  <a:srgbClr val="FFFFFF"/>
                </a:solidFill>
              </a:defRPr>
            </a:pPr>
            <a:r>
              <a:t>▸ Repository: github.com/sivasaiakunuru/cedr-ivfrm</a:t>
            </a:r>
          </a:p>
          <a:p>
            <a:pPr>
              <a:spcBef>
                <a:spcPts val="1600"/>
              </a:spcBef>
              <a:defRPr sz="2000">
                <a:solidFill>
                  <a:srgbClr val="FFFFFF"/>
                </a:solidFill>
              </a:defRPr>
            </a:pPr>
            <a:r>
              <a:t>▸ Status: Production ready for pilot deployment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D4AA"/>
                </a:solidFill>
              </a:defRPr>
            </a:pPr>
            <a:r>
              <a:t>CEDR-IVFRM Project - Cybersecurity Event Data Recorder for Connected Vehicles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95247" y="4206240"/>
            <a:ext cx="2286000" cy="365760"/>
          </a:xfrm>
          <a:prstGeom prst="roundRect">
            <a:avLst/>
          </a:prstGeom>
          <a:solidFill>
            <a:srgbClr val="63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MIT Licensed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95647" y="4206240"/>
            <a:ext cx="2286000" cy="365760"/>
          </a:xfrm>
          <a:prstGeom prst="roundRect">
            <a:avLst/>
          </a:prstGeom>
          <a:solidFill>
            <a:srgbClr val="63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Open Source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96047" y="4206240"/>
            <a:ext cx="2286000" cy="365760"/>
          </a:xfrm>
          <a:prstGeom prst="roundRect">
            <a:avLst/>
          </a:prstGeom>
          <a:solidFill>
            <a:srgbClr val="63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Production Ready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4937760"/>
            <a:ext cx="5760720" cy="1371600"/>
          </a:xfrm>
          <a:prstGeom prst="roundRect">
            <a:avLst/>
          </a:prstGeom>
          <a:solidFill>
            <a:srgbClr val="1E3A5F"/>
          </a:solidFill>
          <a:ln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CCCCCC"/>
                </a:solidFill>
              </a:defRPr>
            </a:pPr>
            <a:r>
              <a:t>Contact: Team Cyber-Torque</a:t>
            </a:r>
          </a:p>
          <a:p>
            <a:r>
              <a:t>Email: capstone@cybertorque.ca</a:t>
            </a:r>
          </a:p>
          <a:p>
            <a:r>
              <a:t>GitHub: github.com/sivasaiakunuru/cedr-ivfrm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