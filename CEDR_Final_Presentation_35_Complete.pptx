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Presenting CEDR - Cybersecurity Event Data Recorder. Modern vehicles face unprecedented cyber threats. CEDR provides tamper-evident forensic evidence proving attacks occurred with cryptographic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sections: 1) 450% increase in cyber incidents, no forensic solutions exist. 2) CEDR hash chain architecture with NXP HSM, 38 stories, 24 risks. 3) $45K Phase 1 ask with 2.2x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landscape escalating. 450% increase since 2018 per Upstream Security. 100+ ECUs per vehicle. 287 day detection time means forensic evidence gone. $5.2M average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Analyzed 8 competitors. Zero provide tamper-evident logging. When incidents go to court, OEMs cannot prove what happened. CEDR's hash chain provides court-admissible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R155 mandatory July 2024, fines up to €30M. Insurance denying claims without proof. McKinsey projects $24B annual cost by 2030. ISO 21434 adds 6-12 months without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Two-tier architecture. Vehicle edge uses CM4 with NXP HSM for FIPS 140-2 Level 2 protection. Under 500ms detection. Cloud on AWS with Azure DR provides fleet correlation and 24/7 SOC.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innovation: cryptographic hash chain. Each event hashes data + previous hash + HSM timestamp. Crosby and Wallach 2009 proves equivalent security to blockchain without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Transparent: CM4 is commercial grade, NOT AEC-Q100. Suitable for prototype validation. Phase 3 includes $85K for NXP S32G migration with HAL enabling minimal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increased from $29,940 to $84,900 annually. Original underestimated data transfer and CloudWatch. AWS $60,900/year for 1,000 vehicles. Unit economics work at $120/year subscription.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STRIDE categories covered. Spoofing detection via multi-source location. Tampering prevented by hash chains. Repudiation eliminated by HSM timestamps. Confidentiality via AES-256-GCM.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 comprehensive stories with acceptance criteria. 7 functional cover core capabilities. 4 non-functional address performance and compliance. 7 security implement controls. 10 abuse cases and 10 countermeasures provide complete threat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primary use cases with full documentation. Each specifies pre-conditions, primary flow, alternates, and exceptions. OTA includes rollback on failure. Detection includes offline mode. Forensics includes hash verification and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professional UML diagrams. Structural show component architecture and database schema. Behavioral cover use cases, sequences, and state machine with 10 states. Visualizations include risk heat map and SWOT.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risks across 7 categories using NIST SP 800-30. Critical risks include hardware reliability and GDPR compliance. New risks: legal admissibility, supply chain, cloud lock-in. 57% reduction with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assessment: 3 of 7 ISO work products complete. UN R155 audit scheduled Month 12-14. AEC-Q100 not qualified - Phase 3 includes $125K for NXP S32G qualification. Transparent about gaps and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Analyzed 8 competitors. ESCRYPT, Harman, Argus lead in detection but provide no forensic integrity. CEDR's differentiation: only tamper-evident solution. 25-40% cost reduction WITH unique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sizing: 250M connected vehicles by 2025. $8B cybersecurity spend. Commercial fleets (25M) most urgent need. Target 1,000 vehicles Year 1, 10,000 by Year 3. $6M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model: Hardware $600-750 with 25-40% margin. Subscription $120/year covers cloud ($85), SOC ($25), and support ($10). Competitive with ESCRYPT ($800-1,200) but adds forensic capability they 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 calculated via expected loss reduction, not simple payback. $5.2M breach cost × 15% probability = $780K/year expected loss without CEDR. With CEDR: 3% probability = $156K/year. $624K annual risk reduction. 2.2x ROI over 24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Break-even recalculated honestly. Original 2,847 used inflated margins. Revised: $422 contribution margin ($387 hardware + $35 subscription). $1.42M Year 1 costs. 3,362 break-even conservative, 4,181 base case. Sensitivity analysis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TCO corrected from $5.43M to $6.11M. Cloud costs increased from $293K to $425K (5 years). Realistic AWS pricing for 1,000 vehicles. Per-vehicle cost $6,110. Honest about 17% increase from original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roadmap with TRL progression. Phase 1: $45K for validation. Phase 3: AEC-Q100 and UN R155 certification. Phase 4 contingent on Series A. Cumulative $1.37M. Risk reduction 40% to 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1: Hardware validation and LOI. Phase 2: Security hardening with 80% code coverage. Phase 3: Certification and pilots. Clear KPIs at each phase enable go/no-go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$45K Phase 1 investment. 10 CM4 units, HSM integration, IP67 testing, 25 attack validations, and signed LOI. De-risks hardware and proves technology. Positions for Phase 2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breakdown: $15K hardware, $18K testing, $12K business development. Environmental chamber testing validates -20°C to +70°C operation. Red team tests 25 attack scenarios. LOI from pilot customer essential for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2-4 total $1.32M. Phase 2 hardens security. Phase 3 achieves certification and pilots. Phase 4 scales to 10K units contingent on Series A. Cumulative $1.37M for full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reduction roadmap. Phase 1 achieves 45% reduction through hardware validation. Phase 2 adds 68% through security hardening. Phase 3 reaches 81% with certification. Phase 4 delivers 91% at scale. Natural stopping points after each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Cyber-Torque from St. Clair College. Strategic partnerships with eSentire for SOC, NXP for HSM technology, major clouds for infrastructure. Building advisory board with automotive and legal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90-day Phase 1 plan. Month 1: procurement and driver dev. Month 2: HSM integration and enclosure. Month 3: testing, validation, and LOI. Clear deliverables enable Phase 2 go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for tough questions. Hardware transparency, competitive differentiation, cost honesty, compliance roadmap, ML fallback, market strategy, break-even math, funding contingencies, GDPR legal basis, and urgency of UN R155. Full answers in comprehensive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budget breakdown all phases. Phase 1-3 $450K for validation and certification. Phase 4 $850K for scale contingent on funding. 5-year TCO $6.11M across all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matrix showing 8 capabilities across 5 vendors. CEDR uniquely provides tamper-evident logging and hash chain integrity. Only open-source solution. Competitive pricing with superior forensic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 21434 work product status. WP-01 to WP-03 complete. WP-04 and WP-05 in progress with prototype. WP-06 and WP-07 design complete pending manufacturing. Full compliance by Month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comparison. CM4 prototype specs with honest temperature limitations. NXP S32G production target with AEC-Q100 Grade 1 qualification. Migration cost $85K in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references: Upstream Security threat data, IBM breach costs, UN R155 regulations, academic papers on forensic readiness and CAN intrusion detection, NIST risk methodology, ISO standards. 32 total IEEE-formatted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CEDR: Cybersecurity Event Data Recorder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B8B"/>
                </a:solidFill>
              </a:defRPr>
            </a:pPr>
            <a:r>
              <a:t>In-Vehicle Forensic Readiness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Team Cyber-Torque | CYB408 Capstone | St. Clair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Automotive cybersecurity gap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CEDR architecture &amp; roadmap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12064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77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1 investment &amp; business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Automotive Cybersecurity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450% increase in incidents since 2018 (Upstream Security)</a:t>
            </a:r>
            <a:br/>
            <a:r>
              <a:t>100+ ECUs per modern vehicle</a:t>
            </a:r>
            <a:br/>
            <a:r>
              <a:t>287 days average breach detection time</a:t>
            </a:r>
            <a:br/>
            <a:r>
              <a:t>$5.2M average breach cost (IBM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Forensic Readiness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Key Finding: Existing solutions detect attacks.</a:t>
            </a:r>
            <a:br/>
            <a:r>
              <a:t>None provide tamper-evident forensic evidence.</a:t>
            </a:r>
            <a:br/>
            <a:br/>
            <a:r>
              <a:t>ESCRYPT: Basic logging only</a:t>
            </a:r>
            <a:br/>
            <a:r>
              <a:t>Harman: Cloud-only analysis</a:t>
            </a:r>
            <a:br/>
            <a:r>
              <a:t>Argus: Post-event only</a:t>
            </a:r>
            <a:br/>
            <a:r>
              <a:t>Upstream: No edge integrity</a:t>
            </a:r>
            <a:br/>
            <a:r>
              <a:t>CEDR: Hash chain integrity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Financial &amp; Regulatory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€30M maximum UN R155 fines</a:t>
            </a:r>
            <a:br/>
            <a:r>
              <a:t>Insurance claims denied without forensic proof</a:t>
            </a:r>
            <a:br/>
            <a:r>
              <a:t>$24B projected industry cost by 2030 (McKinsey)</a:t>
            </a:r>
            <a:br/>
            <a:r>
              <a:t>6-12 month ISO 21434 certification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CEDR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VEHICLE EDGE:</a:t>
            </a:r>
            <a:br/>
            <a:r>
              <a:t>• Raspberry Pi CM4 Industrial</a:t>
            </a:r>
            <a:br/>
            <a:r>
              <a:t>• NXP A71CH HSM (FIPS 140-2 L2)</a:t>
            </a:r>
            <a:br/>
            <a:r>
              <a:t>• Real-time CAN capture (&lt;500ms)</a:t>
            </a:r>
            <a:br/>
            <a:r>
              <a:t>• TensorFlow Lite ML inference</a:t>
            </a:r>
            <a:br/>
            <a:r>
              <a:t>• SHA-256 hash chain storage</a:t>
            </a:r>
            <a:br/>
            <a:r>
              <a:t>• 4G/LTE cellular upload</a:t>
            </a:r>
            <a:br/>
            <a:br/>
            <a:r>
              <a:t>CLOUD BACKEND:</a:t>
            </a:r>
            <a:br/>
            <a:r>
              <a:t>• AWS (Primary) + Azure (DR)</a:t>
            </a:r>
            <a:br/>
            <a:r>
              <a:t>• Kubernetes orchestration</a:t>
            </a:r>
            <a:br/>
            <a:r>
              <a:t>• Real-time fleet correlation</a:t>
            </a:r>
            <a:br/>
            <a:r>
              <a:t>• Evidence export (PDF/JSON)</a:t>
            </a:r>
            <a:br/>
            <a:r>
              <a:t>• SOC integration (eSentire)</a:t>
            </a:r>
            <a:br/>
            <a:r>
              <a:t>• 7-year retention (GDPR ready)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Differentiation: Hash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Every security event generates SHA-256 hash including:</a:t>
            </a:r>
            <a:br/>
            <a:r>
              <a:t>• Event data (CAN frame, timestamp, vehicle ID)</a:t>
            </a:r>
            <a:br/>
            <a:r>
              <a:t>• Previous event's hash (sequential chain)</a:t>
            </a:r>
            <a:br/>
            <a:r>
              <a:t>• HSM-signed timestamp (non-repudiation)</a:t>
            </a:r>
            <a:br/>
            <a:br/>
            <a:r>
              <a:t>If ANY record modified → hash verification FAILS</a:t>
            </a:r>
            <a:br/>
            <a:br/>
            <a:r>
              <a:t>This provides court-admissible evidence integrity</a:t>
            </a:r>
            <a:br/>
            <a:r>
              <a:t>No competitor offers this capability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Honest Hardware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SPECIFICATION | PROTOTYPE | PRODUCTION</a:t>
            </a:r>
            <a:br/>
            <a:r>
              <a:t>Platform | RPi CM4 Industrial | NXP S32G Vehicle Processor</a:t>
            </a:r>
            <a:br/>
            <a:r>
              <a:t>Temperature | -20°C to +70°C (Commercial) | -40°C to +125°C (AEC-Q100)</a:t>
            </a:r>
            <a:br/>
            <a:r>
              <a:t>Qualification | NOT automotive grade | ISO 26262 ASIL-B capable</a:t>
            </a:r>
            <a:br/>
            <a:br/>
            <a:r>
              <a:t>Phase 3: $85,000 migration to automotive-grade NXP S32G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Revised Cloud Infrastructure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Multi-Cloud Architecture (1,000 vehicles):</a:t>
            </a:r>
            <a:br/>
            <a:br/>
            <a:r>
              <a:t>AWS (Primary): $5,075/month</a:t>
            </a:r>
            <a:br/>
            <a:r>
              <a:t>• EC2, RDS, S3, IoT Core, Lambda, CloudWatch</a:t>
            </a:r>
            <a:br/>
            <a:br/>
            <a:r>
              <a:t>Azure (DR): $1,200/month</a:t>
            </a:r>
            <a:br/>
            <a:r>
              <a:t>• SQL Hyperscale, Blob Storage</a:t>
            </a:r>
            <a:br/>
            <a:br/>
            <a:r>
              <a:t>GCP (ML): $800/month</a:t>
            </a:r>
            <a:br/>
            <a:r>
              <a:t>• Vertex AI training</a:t>
            </a:r>
            <a:br/>
            <a:br/>
            <a:r>
              <a:t>TOTAL: $7,075/month = $84,900/year</a:t>
            </a:r>
            <a:br/>
            <a:r>
              <a:t>(Revised from $29,940 - realistic usage estimates)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Features: STRIDE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Spoofing: Multi-source location verification</a:t>
            </a:r>
            <a:br/>
            <a:r>
              <a:t>Tampering: SHA-256 hash chain, WORM storage</a:t>
            </a:r>
            <a:br/>
            <a:r>
              <a:t>Repudiation: HSM-signed timestamps, delivery receipts</a:t>
            </a:r>
            <a:br/>
            <a:r>
              <a:t>Information Disclosure: AES-256-GCM, HSM keys</a:t>
            </a:r>
            <a:br/>
            <a:r>
              <a:t>DoS: Hardware CAN filtering, rate limiting</a:t>
            </a:r>
            <a:br/>
            <a:r>
              <a:t>Elevation: RBAC, zero-trust architecture</a:t>
            </a:r>
            <a:br/>
            <a:br/>
            <a:r>
              <a:t>Full threat model coverage with specific countermeasures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38 Agile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7 Functional: Detection, forensics, fleet correlation, OTA logging</a:t>
            </a:r>
            <a:br/>
            <a:r>
              <a:t>4 Non-Functional: Performance, retention, compatibility, temperature</a:t>
            </a:r>
            <a:br/>
            <a:r>
              <a:t>7 Security: Tamper evidence, encryption, MFA, RBAC, HSM, secure boot</a:t>
            </a:r>
            <a:br/>
            <a:r>
              <a:t>10 Abuse Cases: Full STRIDE coverage - MITM, spoofing, DoS, rollback</a:t>
            </a:r>
            <a:br/>
            <a:r>
              <a:t>10 Countermeasures: WORM storage, certificate pinning, rate limiting</a:t>
            </a:r>
            <a:br/>
            <a:br/>
            <a:r>
              <a:t>All stories include Given-When-Then acceptance criteria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 Cases: Complete Flow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UC-001 Secure OTA Update Logging:</a:t>
            </a:r>
            <a:br/>
            <a:r>
              <a:t>Pre-conditions: TLS 1.3, HSM ready, package signed</a:t>
            </a:r>
            <a:br/>
            <a:r>
              <a:t>Primary: Download, verify signature, install, log</a:t>
            </a:r>
            <a:br/>
            <a:r>
              <a:t>Alternate: Installation failure with rollback</a:t>
            </a:r>
            <a:br/>
            <a:r>
              <a:t>Exception: Signature invalid triggers CRITICAL alert</a:t>
            </a:r>
            <a:br/>
            <a:br/>
            <a:r>
              <a:t>UC-002 Real-Time Intrusion Detection:</a:t>
            </a:r>
            <a:br/>
            <a:r>
              <a:t>Pre-conditions: ML loaded, CAN active, baseline calibrated</a:t>
            </a:r>
            <a:br/>
            <a:r>
              <a:t>Primary: Capture, inference, alert, hash, upload</a:t>
            </a:r>
            <a:br/>
            <a:r>
              <a:t>Alternate: Offline mode with local queue</a:t>
            </a:r>
            <a:br/>
            <a:r>
              <a:t>Exception: ML failure falls back to rule-based</a:t>
            </a:r>
            <a:br/>
            <a:br/>
            <a:r>
              <a:t>UC-003 Post-Incident Forensic Investigation:</a:t>
            </a:r>
            <a:br/>
            <a:r>
              <a:t>Complete chain of custody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UML Architecture: 12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Structural:</a:t>
            </a:r>
            <a:br/>
            <a:r>
              <a:t>• Component Diagram</a:t>
            </a:r>
            <a:br/>
            <a:r>
              <a:t>• Deployment Diagram</a:t>
            </a:r>
            <a:br/>
            <a:r>
              <a:t>• Class Diagram v2</a:t>
            </a:r>
            <a:br/>
            <a:r>
              <a:t>• Entity-Relationship (NEW)</a:t>
            </a:r>
            <a:br/>
            <a:br/>
            <a:r>
              <a:t>Behavioral:</a:t>
            </a:r>
            <a:br/>
            <a:r>
              <a:t>• Use Case, Sequence, Activity Diagrams</a:t>
            </a:r>
            <a:br/>
            <a:r>
              <a:t>• State Machine - 10 states (NEW)</a:t>
            </a:r>
            <a:br/>
            <a:r>
              <a:t>• Story Pyramid - 38 stories</a:t>
            </a:r>
            <a:br/>
            <a:r>
              <a:t>• Risk Heat Map - 24 risks</a:t>
            </a:r>
            <a:br/>
            <a:r>
              <a:t>• SWOT Analysis</a:t>
            </a:r>
            <a:br/>
            <a:r>
              <a:t>• Improvement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Risk Analysis: 24 Risks (NIST Methodology)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Scoring: Likelihood × Impact × Confidence</a:t>
            </a:r>
            <a:br/>
            <a:br/>
            <a:r>
              <a:t>Technical (5): Hardware, storage, connectivity, ML accuracy</a:t>
            </a:r>
            <a:br/>
            <a:r>
              <a:t>Business (5): Market adoption, competition, funding</a:t>
            </a:r>
            <a:br/>
            <a:r>
              <a:t>Compliance (4): ISO 21434, UN R155, GDPR, legal admissibility</a:t>
            </a:r>
            <a:br/>
            <a:r>
              <a:t>Operational (2): Alert fatigue, analyst burnout</a:t>
            </a:r>
            <a:br/>
            <a:r>
              <a:t>Security (3): Supply chain, credentials, HSM extraction</a:t>
            </a:r>
            <a:br/>
            <a:r>
              <a:t>Supply Chain (3): RPi shortages, AWS lock-in, data sovereignty</a:t>
            </a:r>
            <a:br/>
            <a:br/>
            <a:r>
              <a:t>Risk Reduction: 57% (12.4 → 5.3 average)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Compliance Roadmap: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ISO/SAE 21434: 3/7 Complete ✅, 2/7 In Progress 🟡 | Month 6-12</a:t>
            </a:r>
            <a:br/>
            <a:r>
              <a:t>UN R155 CSMS: Gap analysis complete | Month 12-14</a:t>
            </a:r>
            <a:br/>
            <a:r>
              <a:t>UN R156 SUMS: Architecture ready | Month 10-12</a:t>
            </a:r>
            <a:br/>
            <a:r>
              <a:t>AEC-Q100: NOT qualified (CM4) | NXP S32G migration Month 9-11</a:t>
            </a:r>
            <a:br/>
            <a:br/>
            <a:r>
              <a:t>External audit: $67,000 + $35,000/year maintenance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Competitive Analysis: 8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ESCRYPT CycurGUARD: $800-1,200 | ECU IDS | ❌ No forensics</a:t>
            </a:r>
            <a:br/>
            <a:r>
              <a:t>Harman Shield: $700-1,000 | Network monitoring | ❌ Cloud-only</a:t>
            </a:r>
            <a:br/>
            <a:r>
              <a:t>Argus Security: $500-800/yr | Cloud IDS | ❌ Post-event</a:t>
            </a:r>
            <a:br/>
            <a:r>
              <a:t>Upstream Security: $15-50/yr | Vehicle SOC | ❌ No edge integrity</a:t>
            </a:r>
            <a:br/>
            <a:r>
              <a:t>Karamba Security: $50-100/ECU | Hardening only | ❌ No detection</a:t>
            </a:r>
            <a:br/>
            <a:r>
              <a:t>GuardKnox: $300-500 | Secure gateway | ❌ Limited scope</a:t>
            </a:r>
            <a:br/>
            <a:r>
              <a:t>Airbiquity: $10-30/yr | OTA platform | ❌ No security</a:t>
            </a:r>
            <a:br/>
            <a:r>
              <a:t>Sibros: $20-40/yr | Fleet mgmt | ❌ No security</a:t>
            </a:r>
            <a:br/>
            <a:br/>
            <a:r>
              <a:t>CEDR: $600-750 | Forensic Readiness | ✅ Hash chain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TAM (Total Addressable Market):</a:t>
            </a:r>
            <a:br/>
            <a:r>
              <a:t>Connected vehicles: 250M by 2025</a:t>
            </a:r>
            <a:br/>
            <a:r>
              <a:t>Cybersecurity spend: $8B by 2025</a:t>
            </a:r>
            <a:br/>
            <a:br/>
            <a:r>
              <a:t>SAM (Serviceable Available Market):</a:t>
            </a:r>
            <a:br/>
            <a:r>
              <a:t>Commercial fleets: 25M vehicles</a:t>
            </a:r>
            <a:br/>
            <a:r>
              <a:t>Forensic readiness segment: $800M</a:t>
            </a:r>
            <a:br/>
            <a:br/>
            <a:r>
              <a:t>SOM (Serviceable Obtainable Market):</a:t>
            </a:r>
            <a:br/>
            <a:r>
              <a:t>Year 1 Target: 1,000 vehicles</a:t>
            </a:r>
            <a:br/>
            <a:r>
              <a:t>Year 3 Target: 10,000 vehicles</a:t>
            </a:r>
            <a:br/>
            <a:r>
              <a:t>Revenue: $6M (hardware + subscriptions)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Hardware (Production): $600-750 per vehicle</a:t>
            </a:r>
            <a:br/>
            <a:r>
              <a:t>• CM4: $213 BOM → $600 retail</a:t>
            </a:r>
            <a:br/>
            <a:r>
              <a:t>• NXP S32G: $45-60 target at volume</a:t>
            </a:r>
            <a:br/>
            <a:br/>
            <a:r>
              <a:t>Annual Subscription: $120 per vehicle</a:t>
            </a:r>
            <a:br/>
            <a:r>
              <a:t>• Cloud infrastructure: $85/year allocation</a:t>
            </a:r>
            <a:br/>
            <a:r>
              <a:t>• SOC services: $25/year</a:t>
            </a:r>
            <a:br/>
            <a:r>
              <a:t>• Support and updates: $10/year</a:t>
            </a:r>
            <a:br/>
            <a:br/>
            <a:r>
              <a:t>First-year bundle: $720-870 total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ROI Calculation: 2.2×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Methodology: Expected Loss Reduction</a:t>
            </a:r>
            <a:br/>
            <a:br/>
            <a:r>
              <a:t>Without CEDR:</a:t>
            </a:r>
            <a:br/>
            <a:r>
              <a:t>• Breach cost: $5.2M (IBM 2024)</a:t>
            </a:r>
            <a:br/>
            <a:r>
              <a:t>• Probability: 15%/year</a:t>
            </a:r>
            <a:br/>
            <a:r>
              <a:t>• Expected loss: $780,000/year</a:t>
            </a:r>
            <a:br/>
            <a:br/>
            <a:r>
              <a:t>With CEDR:</a:t>
            </a:r>
            <a:br/>
            <a:r>
              <a:t>• Probability reduced: 3%/year (80% reduction)</a:t>
            </a:r>
            <a:br/>
            <a:r>
              <a:t>• Expected loss: $156,000/year</a:t>
            </a:r>
            <a:br/>
            <a:br/>
            <a:r>
              <a:t>Annual Risk Reduction: $624,000</a:t>
            </a:r>
            <a:br/>
            <a:r>
              <a:t>24-Month Value: $1,248,000</a:t>
            </a:r>
            <a:br/>
            <a:r>
              <a:t>Investment (Phases 1-3): $450,000</a:t>
            </a:r>
            <a:br/>
            <a:r>
              <a:t>ROI: $1.25M / $450K = 2.2×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Break-Even Analysis: 4,181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Contribution Margin:</a:t>
            </a:r>
            <a:br/>
            <a:r>
              <a:t>• Hardware: $600 - $213 = $387</a:t>
            </a:r>
            <a:br/>
            <a:r>
              <a:t>• Subscription Y1: $120 - $85 = $35</a:t>
            </a:r>
            <a:br/>
            <a:r>
              <a:t>• Total Year 1: $422 per vehicle</a:t>
            </a:r>
            <a:br/>
            <a:br/>
            <a:r>
              <a:t>Year 1 Fixed Costs:</a:t>
            </a:r>
            <a:br/>
            <a:r>
              <a:t>• Phases 1-3: $450,000</a:t>
            </a:r>
            <a:br/>
            <a:r>
              <a:t>• Personnel: $610,875</a:t>
            </a:r>
            <a:br/>
            <a:r>
              <a:t>• Compliance: $358,000</a:t>
            </a:r>
            <a:br/>
            <a:r>
              <a:t>• Total: $1,418,875</a:t>
            </a:r>
            <a:br/>
            <a:br/>
            <a:r>
              <a:t>Break-Even: $1,418,875 ÷ $422 = 3,362 (conservative)</a:t>
            </a:r>
            <a:br/>
            <a:r>
              <a:t>Base Case: 4,181 vehicles (blended margin)</a:t>
            </a:r>
            <a:br/>
            <a:r>
              <a:t>Sensitivity: Best 2,480 | Worst 5,600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5-Year TCO: $6.1M (Corrected)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Original estimate: $5.43M | Revised: $6.11M</a:t>
            </a:r>
            <a:br/>
            <a:br/>
            <a:r>
              <a:t>Hardware (1,000 units): $213,000</a:t>
            </a:r>
            <a:br/>
            <a:r>
              <a:t>Cloud (5 years): $424,500 (was $292,940)</a:t>
            </a:r>
            <a:br/>
            <a:r>
              <a:t>Software &amp; Services: $1,605,000</a:t>
            </a:r>
            <a:br/>
            <a:r>
              <a:t>Personnel (4.0 FTE, 5yr): $3,369,355</a:t>
            </a:r>
            <a:br/>
            <a:r>
              <a:t>Compliance &amp; Certification: $498,000</a:t>
            </a:r>
            <a:br/>
            <a:br/>
            <a:r>
              <a:t>Per Vehicle: $6,110 (was $5,978)</a:t>
            </a:r>
            <a:br/>
            <a:r>
              <a:t>Difference: +$132/vehicle (+$131,560 total)</a:t>
            </a:r>
            <a:br/>
            <a:br/>
            <a:r>
              <a:t>Cloud revision: realistic data transfer + CloudWatch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Four-Phase Roadmap: TRL 4 →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0 (Current): TRL 4 | Prototype validated | $65K</a:t>
            </a:r>
            <a:br/>
            <a:r>
              <a:t>Phase 1 (M1-3): TRL 5 | CM4 Industrial, HSM, 25 attacks | $45K</a:t>
            </a:r>
            <a:br/>
            <a:r>
              <a:t>Phase 2 (M4-6): TRL 6 | Secure boot, dm-verity, 50+ attacks | $120K</a:t>
            </a:r>
            <a:br/>
            <a:r>
              <a:t>Phase 3 (M7-12): TRL 8 | AEC-Q100, UN R155, pilot 50 veh | $285K</a:t>
            </a:r>
            <a:br/>
            <a:r>
              <a:t>Phase 4 (M13-24): TRL 9 | 10K units, V2X, Series A | $850K</a:t>
            </a:r>
            <a:br/>
            <a:br/>
            <a:r>
              <a:t>Total Investment: $1.37M | 40% → 90% risk reduction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Success Metrics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1 (Foundation):</a:t>
            </a:r>
            <a:br/>
            <a:r>
              <a:t>• 10 CM4 units operational</a:t>
            </a:r>
            <a:br/>
            <a:r>
              <a:t>• -20°C to +70°C validated</a:t>
            </a:r>
            <a:br/>
            <a:r>
              <a:t>• 25 attack scenarios tested</a:t>
            </a:r>
            <a:br/>
            <a:r>
              <a:t>• 1 pilot LOI signed</a:t>
            </a:r>
            <a:br/>
            <a:br/>
            <a:r>
              <a:t>Phase 2 (Hardening):</a:t>
            </a:r>
            <a:br/>
            <a:r>
              <a:t>• Secure boot 100% success</a:t>
            </a:r>
            <a:br/>
            <a:r>
              <a:t>• 50+ attack HIL coverage</a:t>
            </a:r>
            <a:br/>
            <a:r>
              <a:t>• Code coverage &gt;80%</a:t>
            </a:r>
            <a:br/>
            <a:r>
              <a:t>• SOC integration complete</a:t>
            </a:r>
            <a:br/>
            <a:br/>
            <a:r>
              <a:t>Phase 3 (Production):</a:t>
            </a:r>
            <a:br/>
            <a:r>
              <a:t>• AEC-Q100 qualified</a:t>
            </a:r>
            <a:br/>
            <a:r>
              <a:t>• UN R155 certified</a:t>
            </a:r>
            <a:br/>
            <a:r>
              <a:t>• 3 pilots, 50 vehicles</a:t>
            </a:r>
            <a:br/>
            <a:r>
              <a:t>• $50K pilot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1 Foundation: $45,000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Investment Request: $45,000 (Months 1-3)</a:t>
            </a:r>
            <a:br/>
            <a:br/>
            <a:r>
              <a:t>Objectives:</a:t>
            </a:r>
            <a:br/>
            <a:r>
              <a:t>• Validate core technology on industrial hardware</a:t>
            </a:r>
            <a:br/>
            <a:r>
              <a:t>• De-risk hardware platform selection</a:t>
            </a:r>
            <a:br/>
            <a:r>
              <a:t>• Achieve 40% immediate risk reduction</a:t>
            </a:r>
            <a:br/>
            <a:br/>
            <a:r>
              <a:t>Deliverables:</a:t>
            </a:r>
            <a:br/>
            <a:r>
              <a:t>• 10× Raspberry Pi CM4 Industrial units</a:t>
            </a:r>
            <a:br/>
            <a:r>
              <a:t>• NXP A71CH HSM integration validated</a:t>
            </a:r>
            <a:br/>
            <a:r>
              <a:t>• IP67 enclosure testing complete</a:t>
            </a:r>
            <a:br/>
            <a:r>
              <a:t>• 25 attack scenarios validated</a:t>
            </a:r>
            <a:br/>
            <a:r>
              <a:t>• Pilot customer LOI signed</a:t>
            </a:r>
            <a:br/>
            <a:br/>
            <a:r>
              <a:t>Outcome: Technology validated, customer committed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 of Funds: Phase 1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Hardware: $15,000</a:t>
            </a:r>
            <a:br/>
            <a:r>
              <a:t>• 10× CM4 Industrial modules: $6,500</a:t>
            </a:r>
            <a:br/>
            <a:r>
              <a:t>• 10× NXP A71CH HSM: $1,200</a:t>
            </a:r>
            <a:br/>
            <a:r>
              <a:t>• 10× IP67 enclosures: $3,500</a:t>
            </a:r>
            <a:br/>
            <a:r>
              <a:t>• CAN hats, antennas, cables: $3,800</a:t>
            </a:r>
            <a:br/>
            <a:br/>
            <a:r>
              <a:t>Testing &amp; Validation: $18,000</a:t>
            </a:r>
            <a:br/>
            <a:r>
              <a:t>• Environmental chamber rental: $8,000</a:t>
            </a:r>
            <a:br/>
            <a:r>
              <a:t>• Red team attack testing: $6,000</a:t>
            </a:r>
            <a:br/>
            <a:r>
              <a:t>• Security audit (basic): $4,000</a:t>
            </a:r>
            <a:br/>
            <a:br/>
            <a:r>
              <a:t>Business Development: $12,000</a:t>
            </a:r>
            <a:br/>
            <a:r>
              <a:t>• Pilot customer engagement: $7,000</a:t>
            </a:r>
            <a:br/>
            <a:r>
              <a:t>• Technical advisory board: $3,000</a:t>
            </a:r>
            <a:br/>
            <a:r>
              <a:t>• Travel &amp; demo logistics: $2,000</a:t>
            </a:r>
            <a:br/>
            <a:br/>
            <a:r>
              <a:t>Total: $45,000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 2-4 Overview: $1.32M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2 Hardening (M4-6): $120,000</a:t>
            </a:r>
            <a:br/>
            <a:r>
              <a:t>• Secure boot implementation</a:t>
            </a:r>
            <a:br/>
            <a:r>
              <a:t>• dm-verity root filesystem</a:t>
            </a:r>
            <a:br/>
            <a:r>
              <a:t>• HIL testing rig</a:t>
            </a:r>
            <a:br/>
            <a:r>
              <a:t>• SOAR platform integration</a:t>
            </a:r>
            <a:br/>
            <a:br/>
            <a:r>
              <a:t>Phase 3 Production (M7-12): $285,000</a:t>
            </a:r>
            <a:br/>
            <a:r>
              <a:t>• AEC-Q100 qualification ($125K)</a:t>
            </a:r>
            <a:br/>
            <a:r>
              <a:t>• EMC testing ($35K)</a:t>
            </a:r>
            <a:br/>
            <a:r>
              <a:t>• UN R155 certification ($67K)</a:t>
            </a:r>
            <a:br/>
            <a:r>
              <a:t>• 50-vehicle pilot deployment</a:t>
            </a:r>
            <a:br/>
            <a:br/>
            <a:r>
              <a:t>Phase 4 Scale (M13-24): $850,000</a:t>
            </a:r>
            <a:br/>
            <a:r>
              <a:t>• 10,000 unit manufacturing</a:t>
            </a:r>
            <a:br/>
            <a:r>
              <a:t>• V2X security integration</a:t>
            </a:r>
            <a:br/>
            <a:r>
              <a:t>• Series A funding preparation</a:t>
            </a:r>
            <a:br/>
            <a:br/>
            <a:r>
              <a:t>Cumulative: $1,365,000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Risk Mitigation: 40% →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Pre-Mitigation Average Risk Score: 12.4</a:t>
            </a:r>
            <a:br/>
            <a:br/>
            <a:r>
              <a:t>Phase 1 (Foundation):</a:t>
            </a:r>
            <a:br/>
            <a:r>
              <a:t>• CM4 Industrial + IP67 enclosure</a:t>
            </a:r>
            <a:br/>
            <a:r>
              <a:t>• Score: 12.4 → 6.8 (45% reduction)</a:t>
            </a:r>
            <a:br/>
            <a:br/>
            <a:r>
              <a:t>Phase 2 (Hardening):</a:t>
            </a:r>
            <a:br/>
            <a:r>
              <a:t>• Secure boot, dm-verity, HIL testing</a:t>
            </a:r>
            <a:br/>
            <a:r>
              <a:t>• Score: 6.8 → 4.0 (68% reduction)</a:t>
            </a:r>
            <a:br/>
            <a:br/>
            <a:r>
              <a:t>Phase 3 (Production):</a:t>
            </a:r>
            <a:br/>
            <a:r>
              <a:t>• AEC-Q100, UN R155, pilots</a:t>
            </a:r>
            <a:br/>
            <a:r>
              <a:t>• Score: 4.0 → 2.3 (81% reduction)</a:t>
            </a:r>
            <a:br/>
            <a:br/>
            <a:r>
              <a:t>Phase 4 (Scale):</a:t>
            </a:r>
            <a:br/>
            <a:r>
              <a:t>• V2X, autonomous integration</a:t>
            </a:r>
            <a:br/>
            <a:r>
              <a:t>• Score: 2.3 → 1.1 (91% reduction)</a:t>
            </a:r>
            <a:br/>
            <a:br/>
            <a:r>
              <a:t>Each phase builds on previous, enabling go/no-go decisions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&amp; Strategic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Core Team (St. Clair College):</a:t>
            </a:r>
            <a:br/>
            <a:r>
              <a:t>• Cybersecurity engineering students</a:t>
            </a:r>
            <a:br/>
            <a:r>
              <a:t>• Faculty advisor: Dr. [Name]</a:t>
            </a:r>
            <a:br/>
            <a:r>
              <a:t>• Capstone project: CYB408</a:t>
            </a:r>
            <a:br/>
            <a:br/>
            <a:r>
              <a:t>Strategic Partners:</a:t>
            </a:r>
            <a:br/>
            <a:r>
              <a:t>• eSentire: 24/7 SOC services</a:t>
            </a:r>
            <a:br/>
            <a:r>
              <a:t>• NXP Semiconductors: HSM technology</a:t>
            </a:r>
            <a:br/>
            <a:r>
              <a:t>• AWS/Azure/GCP: Cloud infrastructure</a:t>
            </a:r>
            <a:br/>
            <a:br/>
            <a:r>
              <a:t>Advisory Board (Target):</a:t>
            </a:r>
            <a:br/>
            <a:r>
              <a:t>• Automotive cybersecurity expert</a:t>
            </a:r>
            <a:br/>
            <a:r>
              <a:t>• OEM integration specialist</a:t>
            </a:r>
            <a:br/>
            <a:r>
              <a:t>• Legal/forensic evidence expert</a:t>
            </a:r>
            <a:br/>
            <a:br/>
            <a:r>
              <a:t>Academic: St. Clair College Cybersecurity Club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Next Steps: 90-Day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Month 1:</a:t>
            </a:r>
            <a:br/>
            <a:r>
              <a:t>• Procure 10× CM4 Industrial units</a:t>
            </a:r>
            <a:br/>
            <a:r>
              <a:t>• Begin NXP A71CH HSM driver development</a:t>
            </a:r>
            <a:br/>
            <a:r>
              <a:t>• Secure environmental chamber access</a:t>
            </a:r>
            <a:br/>
            <a:br/>
            <a:r>
              <a:t>Month 2:</a:t>
            </a:r>
            <a:br/>
            <a:r>
              <a:t>• Complete HSM integration</a:t>
            </a:r>
            <a:br/>
            <a:r>
              <a:t>• IP67 enclosure fabrication</a:t>
            </a:r>
            <a:br/>
            <a:r>
              <a:t>• Start pilot customer discussions</a:t>
            </a:r>
            <a:br/>
            <a:br/>
            <a:r>
              <a:t>Month 3:</a:t>
            </a:r>
            <a:br/>
            <a:r>
              <a:t>• Environmental testing (-20°C to +70°C)</a:t>
            </a:r>
            <a:br/>
            <a:r>
              <a:t>• 25 attack scenario validation</a:t>
            </a:r>
            <a:br/>
            <a:r>
              <a:t>• Pilot LOI negotiation and signing</a:t>
            </a:r>
            <a:br/>
            <a:r>
              <a:t>• Phase 2 funding preparation</a:t>
            </a:r>
            <a:br/>
            <a:br/>
            <a:r>
              <a:t>Deliverable: Validated technology + committed customer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Q&amp;A: 10 Tough Questions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1. Hardware not automotive grade? → Phase 3 NXP S32G migration</a:t>
            </a:r>
            <a:br/>
            <a:r>
              <a:t>2. Competitors have this? → No, analyzed 8, zero forensic capability</a:t>
            </a:r>
            <a:br/>
            <a:r>
              <a:t>3. Cloud costs up 283%? → Realistic AWS pricing, unit economics work</a:t>
            </a:r>
            <a:br/>
            <a:r>
              <a:t>4. Only 3/7 ISO complete? → Timeline to full compliance documented</a:t>
            </a:r>
            <a:br/>
            <a:r>
              <a:t>5. ML accuracy concerns? → Rule-based fallback, core value not ML-dependent</a:t>
            </a:r>
            <a:br/>
            <a:r>
              <a:t>6. ESCRYPT relationships? → Target Tier-2/3, differentiation clear</a:t>
            </a:r>
            <a:br/>
            <a:r>
              <a:t>7. Break-even increased? → Honest math: 4,181 vs 2,847</a:t>
            </a:r>
            <a:br/>
            <a:r>
              <a:t>8. Phase 4 funding risk? → Natural stopping points, acquisition option</a:t>
            </a:r>
            <a:br/>
            <a:r>
              <a:t>9. GDPR 7-year retention? → Legal basis UN R155, forensic hold exception</a:t>
            </a:r>
            <a:br/>
            <a:r>
              <a:t>10. Why invest now? → UN R155 mandatory July 2024, €30M fines</a:t>
            </a:r>
            <a:br/>
            <a:br/>
            <a:r>
              <a:t>Full answers in speaker notes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Appendix: Detailed Budget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Phase 1 ($45K): Hardware $15K, Testing $18K, BD $12K</a:t>
            </a:r>
            <a:br/>
            <a:r>
              <a:t>Phase 2 ($120K): Security $45K, HIL $35K, Integration $40K</a:t>
            </a:r>
            <a:br/>
            <a:r>
              <a:t>Phase 3 ($285K): Certifications $227K, Pilots $58K</a:t>
            </a:r>
            <a:br/>
            <a:r>
              <a:t>Phase 4 ($850K): Mfg setup $400K, Inventory $350K, Ops $100K</a:t>
            </a:r>
            <a:br/>
            <a:br/>
            <a:r>
              <a:t>5-Year TCO:</a:t>
            </a:r>
            <a:br/>
            <a:r>
              <a:t>Hardware $213K | Cloud $425K | Software $1.6M</a:t>
            </a:r>
            <a:br/>
            <a:r>
              <a:t>Personnel $3.4M | Compliance $498K</a:t>
            </a:r>
            <a:br/>
            <a:br/>
            <a:r>
              <a:t>Per-vehicle: $6,110 (5-year)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Appendix: 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Capability | ESCRYPT | Harman | Argus | Upstream | CEDR</a:t>
            </a:r>
            <a:br/>
            <a:r>
              <a:t>ECU IDS | ✅ | ✅ | ❌ | ❌ | ✅</a:t>
            </a:r>
            <a:br/>
            <a:r>
              <a:t>Network IDS | ✅ | ✅ | ✅ | ✅ | ✅</a:t>
            </a:r>
            <a:br/>
            <a:r>
              <a:t>Cloud Analytics | ✅ | ✅ | ✅ | ✅ | ✅</a:t>
            </a:r>
            <a:br/>
            <a:r>
              <a:t>Tamper-Evident | ❌ | ❌ | ❌ | ❌ | ✅ UNIQUE</a:t>
            </a:r>
            <a:br/>
            <a:r>
              <a:t>Hash Chain | ❌ | ❌ | ❌ | ❌ | ✅</a:t>
            </a:r>
            <a:br/>
            <a:r>
              <a:t>HSM Integration | ✅ | ⚠️ | ❌ | ❌ | ✅</a:t>
            </a:r>
            <a:br/>
            <a:r>
              <a:t>Open Source | ❌ | ❌ | ❌ | ❌ | ✅</a:t>
            </a:r>
            <a:br/>
            <a:r>
              <a:t>Price (unit) | $800-1200 | $700-1000 | $500-800 | $15-50 | $600-750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Appendix: ISO 21434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Work Product | Status | Evidence | Timeline</a:t>
            </a:r>
            <a:br/>
            <a:r>
              <a:t>WP-01 Cybersecurity Policy | ✅ Complete | Documented policy | Done</a:t>
            </a:r>
            <a:br/>
            <a:r>
              <a:t>WP-02 Risk Management | ✅ Complete | TARA, 24 risks | Done</a:t>
            </a:r>
            <a:br/>
            <a:r>
              <a:t>WP-03 Concept Phase | ✅ Complete | Threat model | Done</a:t>
            </a:r>
            <a:br/>
            <a:r>
              <a:t>WP-04 Product Development | 🟡 In Progress | Prototype SDLC | Month 6</a:t>
            </a:r>
            <a:br/>
            <a:r>
              <a:t>WP-05 Validation | 🟡 In Progress | Test plan | Month 6</a:t>
            </a:r>
            <a:br/>
            <a:r>
              <a:t>WP-06 Production | 📐 Design Only | Mfg plan | Month 12</a:t>
            </a:r>
            <a:br/>
            <a:r>
              <a:t>WP-07 Post-Dev Updates | ✅ Design | OTA arch | Month 12</a:t>
            </a:r>
            <a:br/>
            <a:br/>
            <a:r>
              <a:t>Summary: 3/7 Complete | 2/7 In Progress | 2/7 Design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Appendix: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PROTOTYPE (CM4 Industrial):</a:t>
            </a:r>
            <a:br/>
            <a:r>
              <a:t>Processor: BCM2711 quad-core Cortex-A72 @ 1.5GHz</a:t>
            </a:r>
            <a:br/>
            <a:r>
              <a:t>Memory: 8GB LPDDR4</a:t>
            </a:r>
            <a:br/>
            <a:r>
              <a:t>Storage: 32GB eMMC + external NVMe</a:t>
            </a:r>
            <a:br/>
            <a:r>
              <a:t>Temperature: -20°C to +70°C (NOT AEC-Q100)</a:t>
            </a:r>
            <a:br/>
            <a:r>
              <a:t>HSM: NXP A71CH (FIPS 140-2 L2)</a:t>
            </a:r>
            <a:br/>
            <a:r>
              <a:t>Connectivity: Quectel BG96 4G/LTE</a:t>
            </a:r>
            <a:br/>
            <a:br/>
            <a:r>
              <a:t>PRODUCTION TARGET (NXP S32G):</a:t>
            </a:r>
            <a:br/>
            <a:r>
              <a:t>Processor: Vehicle Network Processor</a:t>
            </a:r>
            <a:br/>
            <a:r>
              <a:t>Temperature: -40°C to +125°C (AEC-Q100 Grade 1)</a:t>
            </a:r>
            <a:br/>
            <a:r>
              <a:t>Safety: ISO 26262 ASIL-B capable</a:t>
            </a:r>
            <a:br/>
            <a:r>
              <a:t>Security: Integrated HSE (Hardware Security Engine)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References: 32 IEEE/Industry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[1] Upstream Security 2024 Global Automotive Cybersecurity Report</a:t>
            </a:r>
            <a:br/>
            <a:r>
              <a:t>[3] IBM Cost of Data Breach Report 2024</a:t>
            </a:r>
            <a:br/>
            <a:r>
              <a:t>[5] UNECE UN R155 Cybersecurity Regulation</a:t>
            </a:r>
            <a:br/>
            <a:r>
              <a:t>[6] Mansor et al. Digital Forensic Readiness Framework 2020</a:t>
            </a:r>
            <a:br/>
            <a:r>
              <a:t>[7] Song et al. Deep CNN for CAN Intrusion Detection 2020</a:t>
            </a:r>
            <a:br/>
            <a:r>
              <a:t>[8] Crosby &amp; Wallach Tamper-Evident Logging 2009</a:t>
            </a:r>
            <a:br/>
            <a:r>
              <a:t>[9] NXP A71CH Secure Element Datasheet</a:t>
            </a:r>
            <a:br/>
            <a:r>
              <a:t>[10] NIST SP 800-30 Risk Assessment Guide</a:t>
            </a:r>
            <a:br/>
            <a:r>
              <a:t>[12] Miller &amp; Valasek Remote Jeep Exploitation 2015</a:t>
            </a:r>
            <a:br/>
            <a:r>
              <a:t>[17] ISO/SAE 21434:2021 Cybersecurity Engineering</a:t>
            </a:r>
            <a:br/>
            <a:r>
              <a:t>[20] ISO 27037 Digital Evidence Guidelines</a:t>
            </a:r>
            <a:br/>
            <a:r>
              <a:t>... 21 additional sources in full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