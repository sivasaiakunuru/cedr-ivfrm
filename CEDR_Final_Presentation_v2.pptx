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I'm presenting CEDR—the Cybersecurity Event Data Recorder.</a:t>
            </a:r>
          </a:p>
          <a:p/>
          <a:p>
            <a:r>
              <a:t>Modern vehicles face unprecedented cyber threats. CEDR provides the missing piece: tamper-evident forensic evidence that proves attacks occurred with cryptographic integrity.</a:t>
            </a:r>
          </a:p>
          <a:p/>
          <a:p>
            <a:r>
              <a:t>Today I'll show you the problem, our solution, and our Phase 1 investment ask of $45,000.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sections today.</a:t>
            </a:r>
          </a:p>
          <a:p/>
          <a:p>
            <a:r>
              <a:t>Part 1 covers the 450% increase in automotive cyber incidents and the critical gap: no existing solution provides tamper-evident forensic evidence.</a:t>
            </a:r>
          </a:p>
          <a:p/>
          <a:p>
            <a:r>
              <a:t>Part 2 presents CEDR's hash chain architecture using NXP HSM for FIPS 140-2 Level 2 protection, plus our 38 user stories and 24-risk framework.</a:t>
            </a:r>
          </a:p>
          <a:p/>
          <a:p>
            <a:r>
              <a:t>Part 3 is our ask: $45,000 for Phase 1 to validate core technology, with clear path to production and 2.2×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threat landscape is escalating rapidly.</a:t>
            </a:r>
          </a:p>
          <a:p/>
          <a:p>
            <a:r>
              <a:t>Upstream Security's 2024 report shows automotive cyber incidents increased 450% since 2018. Modern vehicles have over 100 ECUs, each a potential attack vector.</a:t>
            </a:r>
          </a:p>
          <a:p/>
          <a:p>
            <a:r>
              <a:t>The fundamental problem: when breaches occur, detection takes an average of 287 days. By then, forensic evidence is gone.</a:t>
            </a:r>
          </a:p>
          <a:p/>
          <a:p>
            <a:r>
              <a:t>The financial impact is severe: $5.2 million average breach cost per IBM's 2024 report. For automotive with safety-critical systems, this can exceed $10 million when including recall costs and litigation.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our key insight from analyzing 8 competitors.</a:t>
            </a:r>
          </a:p>
          <a:p/>
          <a:p>
            <a:r>
              <a:t>ESCRYPT, Harman, Argus, Upstream, Karamba, GuardKnox, Airbiquity, and Sibros all provide detection and prevention.</a:t>
            </a:r>
          </a:p>
          <a:p/>
          <a:p>
            <a:r>
              <a:t>Zero provide tamper-evident forensic logging with cryptographic integrity.</a:t>
            </a:r>
          </a:p>
          <a:p/>
          <a:p>
            <a:r>
              <a:t>When cyber incidents go to court or insurance arbitration, OEMs using existing solutions cannot prove what happened. CEDR's hash chain provides court-admissible evidence integrity that no competitor offers.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financial and regulatory stakes are enormous.</a:t>
            </a:r>
          </a:p>
          <a:p/>
          <a:p>
            <a:r>
              <a:t>UN R155, mandatory in the EU from July 2024, permits fines up to 30 million euros or 6% of global turnover.</a:t>
            </a:r>
          </a:p>
          <a:p/>
          <a:p>
            <a:r>
              <a:t>Insurance companies increasingly deny claims when forensic evidence is unavailable. Without proof, OEMs bear full breach costs.</a:t>
            </a:r>
          </a:p>
          <a:p/>
          <a:p>
            <a:r>
              <a:t>McKinsey estimates cybersecurity vulnerabilities will cost the automotive industry $24 billion annually by 2030.</a:t>
            </a:r>
          </a:p>
          <a:p/>
          <a:p>
            <a:r>
              <a:t>ISO 21434 certification adds 6-12 months to development without proper preparation. CEDR provides the framework to accelerate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CEDR uses a two-tier architecture.</a:t>
            </a:r>
          </a:p>
          <a:p/>
          <a:p>
            <a:r>
              <a:t>On the vehicle: Raspberry Pi CM4 Industrial with NXP A71CH HSM for FIPS 140-2 Level 2 key protection. We achieve under 500ms detection latency with TensorFlow Lite edge inference.</a:t>
            </a:r>
          </a:p>
          <a:p/>
          <a:p>
            <a:r>
              <a:t>The cloud runs on AWS with Azure disaster recovery. It provides fleet-wide attack correlation, evidence export for investigators, and 24/7 SOC integration.</a:t>
            </a:r>
          </a:p>
          <a:p/>
          <a:p>
            <a:r>
              <a:t>This architecture ensures forensic integrity from detection through legal proceedings.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CEDR's core innovation is cryptographic hash chain integrity.</a:t>
            </a:r>
          </a:p>
          <a:p/>
          <a:p>
            <a:r>
              <a:t>Every event hashes: the data itself, the previous hash, and an HSM-signed timestamp. This creates an unbreakable sequential chain.</a:t>
            </a:r>
          </a:p>
          <a:p/>
          <a:p>
            <a:r>
              <a:t>If an attacker modifies even one byte of one record, the hash chain breaks. Verification immediately detects tampering.</a:t>
            </a:r>
          </a:p>
          <a:p/>
          <a:p>
            <a:r>
              <a:t>This is NOT blockchain—it's a single-writer sequential hash chain optimized for verification speed. Crosby and Wallach's 2009 paper proves this provides equivalent integrity guarantees without blockchain overhead.</a:t>
            </a:r>
          </a:p>
          <a:p/>
          <a:p>
            <a:r>
              <a:t>No competitor offers this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be transparent about our hardware.</a:t>
            </a:r>
          </a:p>
          <a:p/>
          <a:p>
            <a:r>
              <a:t>The Raspberry Pi CM4 Industrial operates at -20°C to +70°C. This is commercial grade, NOT automotive grade, and NOT AEC-Q100 qualified.</a:t>
            </a:r>
          </a:p>
          <a:p/>
          <a:p>
            <a:r>
              <a:t>It's suitable for prototype validation and pilot testing, but not for production vehicles.</a:t>
            </a:r>
          </a:p>
          <a:p/>
          <a:p>
            <a:r>
              <a:t>Phase 3 includes $85,000 to migrate to the NXP S32G Vehicle Network Processor, which is AEC-Q100 Grade 1 qualified and operates at full automotive temperature ranges.</a:t>
            </a:r>
          </a:p>
          <a:p/>
          <a:p>
            <a:r>
              <a:t>Our Hardware Abstraction Layer enables this migration with minimal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cloud costs increased from $29,940 to $84,900 annually. Here's why.</a:t>
            </a:r>
          </a:p>
          <a:p/>
          <a:p>
            <a:r>
              <a:t>The original estimate didn't account for realistic data transfer costs, CloudWatch logging, and IoT Core connection fees for 1,000 vehicles.</a:t>
            </a:r>
          </a:p>
          <a:p/>
          <a:p>
            <a:r>
              <a:t>AWS is $60,900/year including EC2, RDS, S3 tiered storage, IoT Core for device connectivity, Lambda for serverless processing, and CloudWatch for monitoring.</a:t>
            </a:r>
          </a:p>
          <a:p/>
          <a:p>
            <a:r>
              <a:t>Azure provides disaster recovery at $14,400/year. GCP handles ML model training at $9,600/year.</a:t>
            </a:r>
          </a:p>
          <a:p/>
          <a:p>
            <a:r>
              <a:t>This is realistic pricing for production scale. The unit economics still work at $120/year per vehicle subscription.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security architecture covers all STRIDE threat categories.</a:t>
            </a:r>
          </a:p>
          <a:p/>
          <a:p>
            <a:r>
              <a:t>Spoofing: Multi-source location verification detects GPS spoofing by comparing GPS, cell tower, and dead reckoning data.</a:t>
            </a:r>
          </a:p>
          <a:p/>
          <a:p>
            <a:r>
              <a:t>Tampering: SHA-256 hash chains and WORM storage prevent log modification.</a:t>
            </a:r>
          </a:p>
          <a:p/>
          <a:p>
            <a:r>
              <a:t>Repudiation: HSM-signed timestamps and delivery receipts prevent alert denial.</a:t>
            </a:r>
          </a:p>
          <a:p/>
          <a:p>
            <a:r>
              <a:t>Information Disclosure: AES-256-GCM encryption and HSM key storage protect confidentiality.</a:t>
            </a:r>
          </a:p>
          <a:p/>
          <a:p>
            <a:r>
              <a:t>DoS: Hardware CAN filtering and rate limiting prevent resource exhaustion.</a:t>
            </a:r>
          </a:p>
          <a:p/>
          <a:p>
            <a:r>
              <a:t>Elevation: RBAC and zero-trust architecture prevent privilege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We've developed 38 comprehensive user stories with acceptance criteria.</a:t>
            </a:r>
          </a:p>
          <a:p/>
          <a:p>
            <a:r>
              <a:t>7 functional stories cover real-time detection, forensic evidence retrieval, fleet-wide correlation, OTA logging, and compliance reporting.</a:t>
            </a:r>
          </a:p>
          <a:p/>
          <a:p>
            <a:r>
              <a:t>4 non-functional stories address performance under 1,000 concurrent connections, GDPR-compliant data retention, cross-platform compatibility, and honest temperature specifications.</a:t>
            </a:r>
          </a:p>
          <a:p/>
          <a:p>
            <a:r>
              <a:t>7 security stories implement tamper-evident logging, AES-256-GCM encryption, multi-factor authentication, role-based access control, HSM integration, and secure boot.</a:t>
            </a:r>
          </a:p>
          <a:p/>
          <a:p>
            <a:r>
              <a:t>10 abuse cases cover full STRIDE threat modeling. 10 countermeasures provide specific mitigations.</a:t>
            </a:r>
          </a:p>
          <a:p/>
          <a:p>
            <a:r>
              <a:t>Every story has Given-When-Then acceptance criteria using OWASP verification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use cases include complete flow documentation.</a:t>
            </a:r>
          </a:p>
          <a:p/>
          <a:p>
            <a:r>
              <a:t>Each use case specifies pre-conditions before execution, primary flow for successful completion, alternate flows for variations, and exception flows for error conditions.</a:t>
            </a:r>
          </a:p>
          <a:p/>
          <a:p>
            <a:r>
              <a:t>For example, OTA update logging includes rollback on installation failure and security alerts on signature verification failure.</a:t>
            </a:r>
          </a:p>
          <a:p/>
          <a:p>
            <a:r>
              <a:t>Intrusion detection includes offline mode when connectivity is lost and rule-based fallback if ML models fail.</a:t>
            </a:r>
          </a:p>
          <a:p/>
          <a:p>
            <a:r>
              <a:t>Forensic investigation handles large result sets asynchronously and escalates when hash verification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CEDR includes 12 professional UML diagrams.</a:t>
            </a:r>
          </a:p>
          <a:p/>
          <a:p>
            <a:r>
              <a:t>Structural diagrams show component architecture, deployment stack, class relationships, and database schema.</a:t>
            </a:r>
          </a:p>
          <a:p/>
          <a:p>
            <a:r>
              <a:t>Behavioral diagrams cover use cases, event sequences, incident response workflows, and the CEDR module state machine with 10 states including secure boot, monitoring, alert active, and tamper lockdown.</a:t>
            </a:r>
          </a:p>
          <a:p/>
          <a:p>
            <a:r>
              <a:t>We've also created visualization diagrams: user story pyramid showing 38 stories, risk heat map for 24 risks, SWOT analysis, and the 4-phase improvement roadmap.</a:t>
            </a:r>
          </a:p>
          <a:p/>
          <a:p>
            <a:r>
              <a:t>All diagrams follow corporate consulting aesthetics with consistent color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risk analysis follows NIST SP 800-30 methodology.</a:t>
            </a:r>
          </a:p>
          <a:p/>
          <a:p>
            <a:r>
              <a:t>We identified 24 risks across 7 categories. Each risk is scored using Likelihood × Impact × Confidence Factor.</a:t>
            </a:r>
          </a:p>
          <a:p/>
          <a:p>
            <a:r>
              <a:t>Critical risks include hardware reliability—we're transparent that CM4 isn't AEC-Q100 qualified—and GDPR compliance with 7-year data retention.</a:t>
            </a:r>
          </a:p>
          <a:p/>
          <a:p>
            <a:r>
              <a:t>New risks added include legal admissibility of evidence, supply chain disruptions, cloud vendor lock-in, data sovereignty across multi-cloud, and technical debt from prototype code.</a:t>
            </a:r>
          </a:p>
          <a:p/>
          <a:p>
            <a:r>
              <a:t>With mitigations applied, average risk score drops from 12.4 to 5.3—a 57%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our honest compliance assessment.</a:t>
            </a:r>
          </a:p>
          <a:p/>
          <a:p>
            <a:r>
              <a:t>ISO/SAE 21434: 3 of 7 work products complete—policy, risk management, concept phase. 2 in progress with our prototype SDLC. WP-06 and WP-07 require manufacturing partnerships planned for Phase 3.</a:t>
            </a:r>
          </a:p>
          <a:p/>
          <a:p>
            <a:r>
              <a:t>UN R155: Gap analysis complete. External audit scheduled for Month 12-14 at $67,000 plus $35,000 annual maintenance.</a:t>
            </a:r>
          </a:p>
          <a:p/>
          <a:p>
            <a:r>
              <a:t>UN R156: Architecture complete. Implementation pending OTA deployment in Phase 3.</a:t>
            </a:r>
          </a:p>
          <a:p/>
          <a:p>
            <a:r>
              <a:t>AEC-Q100: Not qualified. The CM4 is commercial grade. Phase 3 includes $125,000 for AEC-Q100 qualification of the NXP S32G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Competitive Analysis: 8 Competitors Evaluated.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Market Opportunity: TAM/SAM/SOM Analysis.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Pricing Strategy: Hardware + Subscription Model.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ROI Calculation: 2.2× Using Risk Mitigation Model.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Break-Even: 4,181 Vehicles (Revised).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5-Year TCO: $6.1M (Corrected from $5.4M).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Four-Phase Roadmap: TRL 4 → TRL 9.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Success Metrics by Phase.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Phase 1 Foundation: $45,000 Investment.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Use of Funds: Hardware, Testing, LOI.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Phase 2-4 Overview: $1.32M Total.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Risk Mitigation: 40% → 90% Reduction.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Team &amp; Strategic Partnerships.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Next Steps: 90-Day Execution Plan.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Q&amp;A: 10 Tough Questions Answered. Refer to comprehensive document Section 17 for detailed talking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CEDR: Cybersecurity Event Data Recorder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8B8B"/>
                </a:solidFill>
              </a:defRPr>
            </a:pPr>
            <a:r>
              <a:t>In-Vehicle Forensic Readiness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Team Cyber-Torque | CYB408 Capstone | St. Clair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Automotive cybersecurity gap and forensic readiness crisis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7472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7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931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CEDR architecture, differentiation, and roadmap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120640"/>
            <a:ext cx="731520" cy="731520"/>
          </a:xfrm>
          <a:prstGeom prst="ellipse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D1B2A"/>
                </a:solidFill>
              </a:defRPr>
            </a:pPr>
            <a: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77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Phase 1 investment and business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Automotive Cybersecurity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450%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Increase in automotive cyber incidents since 2018 (Upstream Security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8B8B"/>
                </a:solidFill>
              </a:defRPr>
            </a:pPr>
            <a: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71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Electronic Control Units in modern connected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74C3C"/>
                </a:solidFill>
              </a:defRPr>
            </a:pPr>
            <a:r>
              <a:t>287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160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Average time to detect a breach (IBM Cost of Data Breach 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8B8B"/>
                </a:solidFill>
              </a:defRPr>
            </a:pPr>
            <a:r>
              <a:t>$5.2M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349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Average cost of a data breach across industries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Forensic Readiness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1B2A"/>
                </a:solidFill>
              </a:defRPr>
            </a:pPr>
            <a:r>
              <a:t>Existing solutions detect attacks. None provide tamper-evident forensic evidence.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Primary Function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Forensic Capability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ESCRYPT CycurGUARD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ECU-level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Basic logging only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Harman Shield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Network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Cloud-only analysis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Argus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Cloud-based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Post-event only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Upstream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Vehicle SOC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>
                          <a:solidFill>
                            <a:srgbClr val="E74C3C"/>
                          </a:solidFill>
                        </a:rPr>
                        <a:t>❌ No edge integrity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CEDR (This Project)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Forensic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b="1">
                          <a:solidFill>
                            <a:srgbClr val="27AE60"/>
                          </a:solidFill>
                        </a:rPr>
                        <a:t>✅ Tamper-evident hash chain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Financial &amp; Regulatory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€30M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UN R155 non-compliance fines maximum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Denied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432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Insurance claims without forensic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$24B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Projected industry cost by 2030 (McKinsey)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389120"/>
            <a:ext cx="4572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6-12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120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ISO 21434 certification delays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CEDR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B8B"/>
                </a:solidFill>
              </a:defRPr>
            </a:pPr>
            <a:r>
              <a:t>VEHICLE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• Raspberry Pi CM4 Industrial</a:t>
            </a:r>
            <a:br/>
            <a:r>
              <a:t>• NXP A71CH HSM (FIPS 140-2 L2)</a:t>
            </a:r>
            <a:br/>
            <a:r>
              <a:t>• Real-time CAN capture (&lt;500ms)</a:t>
            </a:r>
            <a:br/>
            <a:r>
              <a:t>• TensorFlow Lite ML inference</a:t>
            </a:r>
            <a:br/>
            <a:r>
              <a:t>• SHA-256 hash chain storage</a:t>
            </a:r>
            <a:br/>
            <a:r>
              <a:t>• 4G/LTE cellular upload</a:t>
            </a:r>
            <a:br/>
            <a:r>
              <a:t>• IP67 environmental enclosure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8B8B"/>
                </a:solidFill>
              </a:defRPr>
            </a:pPr>
            <a:r>
              <a:t>CLOUD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• AWS (Primary) + Azure (DR)</a:t>
            </a:r>
            <a:br/>
            <a:r>
              <a:t>• Kubernetes orchestration</a:t>
            </a:r>
            <a:br/>
            <a:r>
              <a:t>• Real-time fleet correlation</a:t>
            </a:r>
            <a:br/>
            <a:r>
              <a:t>• Evidence export (PDF/JSON)</a:t>
            </a:r>
            <a:br/>
            <a:r>
              <a:t>• SOC integration (eSentire)</a:t>
            </a:r>
            <a:br/>
            <a:r>
              <a:t>• 7-year retention (GDPR ready)</a:t>
            </a:r>
            <a:br/>
            <a:r>
              <a:t>• TLS 1.3 + mTLS encryption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Differentiation: Hash Chain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1B2A"/>
                </a:solidFill>
              </a:defRPr>
            </a:pPr>
            <a:r>
              <a:t>Cryptographic Tamper Evidence</a:t>
            </a:r>
          </a:p>
          <a:p>
            <a:br/>
            <a:pPr>
              <a:defRPr sz="1600">
                <a:solidFill>
                  <a:srgbClr val="404040"/>
                </a:solidFill>
              </a:defRPr>
            </a:pPr>
            <a:r>
              <a:t>Every security event generates a SHA-256 hash that includes: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• Event data (CAN frame, timestamp, vehicle ID)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• Previous event's hash (forms sequential chain)</a:t>
            </a:r>
          </a:p>
          <a:p>
            <a:pPr>
              <a:spcBef>
                <a:spcPts val="600"/>
              </a:spcBef>
              <a:defRPr sz="1600">
                <a:solidFill>
                  <a:srgbClr val="404040"/>
                </a:solidFill>
              </a:defRPr>
            </a:pPr>
            <a:r>
              <a:t>• HSM-signed timestamp (non-repudiation)</a:t>
            </a:r>
          </a:p>
          <a:p>
            <a:br/>
            <a:pPr>
              <a:defRPr sz="1600" b="1">
                <a:solidFill>
                  <a:srgbClr val="E74C3C"/>
                </a:solidFill>
              </a:defRPr>
            </a:pPr>
            <a:r>
              <a:t>If ANY record is modified, hash verification FAILS immediately.</a:t>
            </a:r>
          </a:p>
          <a:p>
            <a:br/>
            <a:pPr>
              <a:defRPr sz="1600" b="1">
                <a:solidFill>
                  <a:srgbClr val="27AE60"/>
                </a:solidFill>
              </a:defRPr>
            </a:pPr>
            <a:r>
              <a:t>This provides court-admissible evidence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Honest Hardware Assessment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10287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Prototype (Phase 1-2)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Production (Phase 3)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Raspberry Pi CM4 Industrial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>
                          <a:solidFill>
                            <a:srgbClr val="27AE60"/>
                          </a:solidFill>
                        </a:rPr>
                        <a:t>NXP S32G Vehicle Processor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-20°C to +70°C (Commercial)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>
                          <a:solidFill>
                            <a:srgbClr val="27AE60"/>
                          </a:solidFill>
                        </a:rPr>
                        <a:t>-40°C to +125°C (AEC-Q100)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1">
                          <a:solidFill>
                            <a:srgbClr val="E74C3C"/>
                          </a:solidFill>
                        </a:rPr>
                        <a:t>NOT automotive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>
                          <a:solidFill>
                            <a:srgbClr val="27AE60"/>
                          </a:solidFill>
                        </a:rPr>
                        <a:t>ISO 26262 ASIL-B capable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04040"/>
                </a:solidFill>
              </a:defRPr>
            </a:pPr>
            <a:r>
              <a:t>Phase 3 includes $85,000 for migration to automotive-grade NXP S32G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Revised Cloud Infrastructure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Multi-Cloud Architecture (1,000 vehicles)</a:t>
            </a:r>
          </a:p>
          <a:p>
            <a:br/>
            <a:pPr>
              <a:defRPr sz="1600" b="1">
                <a:solidFill>
                  <a:srgbClr val="008B8B"/>
                </a:solidFill>
              </a:defRPr>
            </a:pPr>
            <a:r>
              <a:t>AWS (Primary): $5,075/month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EC2, RDS, S3, IoT Core, Lambda, CloudWatch</a:t>
            </a:r>
          </a:p>
          <a:p>
            <a:br/>
            <a:pPr>
              <a:defRPr sz="1600" b="1">
                <a:solidFill>
                  <a:srgbClr val="008B8B"/>
                </a:solidFill>
              </a:defRPr>
            </a:pPr>
            <a:r>
              <a:t>Azure (DR): $1,200/month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SQL Hyperscale, Blob Storage, Monitor</a:t>
            </a:r>
          </a:p>
          <a:p>
            <a:br/>
            <a:pPr>
              <a:defRPr sz="1600" b="1">
                <a:solidFill>
                  <a:srgbClr val="008B8B"/>
                </a:solidFill>
              </a:defRPr>
            </a:pPr>
            <a:r>
              <a:t>GCP (ML): $800/month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Vertex AI training, model versioning</a:t>
            </a:r>
          </a:p>
          <a:p>
            <a:br/>
            <a:pPr>
              <a:defRPr sz="1800" b="1">
                <a:solidFill>
                  <a:srgbClr val="E74C3C"/>
                </a:solidFill>
              </a:defRPr>
            </a:pPr>
            <a:r>
              <a:t>TOTAL: $7,075/month = $84,900/year (revised from $29,940)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Features: STRIDE Coverage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5314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STRIDE Category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Threat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Countermeasure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GPS spoofing, identity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Multi-source location verification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 modification, MITM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SHA-256 hash chain, WORM storage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Repudiation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 denial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HSM-signed timestamps, delivery receipts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Information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breach, credential theft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AES-256-GCM, HSM key storage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CAN flood, resource exhaustion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Hardware filtering, rate limiting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Privilege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RBAC, zero-trust architecture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38 Agile User Stories with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Complete User Story Framework</a:t>
            </a:r>
          </a:p>
          <a:p>
            <a:br/>
            <a:pPr>
              <a:defRPr sz="1500">
                <a:solidFill>
                  <a:srgbClr val="404040"/>
                </a:solidFill>
              </a:defRPr>
            </a:pPr>
            <a:r>
              <a:t>7 Functional: Real-time detection, forensics, fleet correlation, OTA logging</a:t>
            </a:r>
          </a:p>
          <a:p>
            <a:br/>
            <a:pPr>
              <a:defRPr sz="1500">
                <a:solidFill>
                  <a:srgbClr val="404040"/>
                </a:solidFill>
              </a:defRPr>
            </a:pPr>
            <a:r>
              <a:t>4 Non-Functional: Performance, retention, compatibility, temperature range</a:t>
            </a:r>
          </a:p>
          <a:p>
            <a:br/>
            <a:pPr>
              <a:defRPr sz="1500">
                <a:solidFill>
                  <a:srgbClr val="404040"/>
                </a:solidFill>
              </a:defRPr>
            </a:pPr>
            <a:r>
              <a:t>7 Security: Tamper evidence, encryption, MFA, RBAC, HSM, secure boot</a:t>
            </a:r>
          </a:p>
          <a:p>
            <a:br/>
            <a:pPr>
              <a:defRPr sz="1500">
                <a:solidFill>
                  <a:srgbClr val="404040"/>
                </a:solidFill>
              </a:defRPr>
            </a:pPr>
            <a:r>
              <a:t>10 Abuse Cases: Full STRIDE coverage: MITM, spoofing, DoS, rollback</a:t>
            </a:r>
          </a:p>
          <a:p>
            <a:br/>
            <a:pPr>
              <a:defRPr sz="1500">
                <a:solidFill>
                  <a:srgbClr val="404040"/>
                </a:solidFill>
              </a:defRPr>
            </a:pPr>
            <a:r>
              <a:t>10 Countermeasures: WORM storage, certificate pinning, rate limiting</a:t>
            </a:r>
          </a:p>
          <a:p>
            <a:br/>
            <a:pPr>
              <a:defRPr sz="1500" b="1">
                <a:solidFill>
                  <a:srgbClr val="008B8B"/>
                </a:solidFill>
              </a:defRPr>
            </a:pPr>
            <a:r>
              <a:t>All stories include Given-When-Then acceptance criteria and OWASP verification standards.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Cases: Complete Flow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Three Primary Use Cases with Full Documentation</a:t>
            </a:r>
          </a:p>
          <a:p>
            <a:br/>
            <a:pPr>
              <a:defRPr sz="1500" b="1">
                <a:solidFill>
                  <a:srgbClr val="008B8B"/>
                </a:solidFill>
              </a:defRPr>
            </a:pPr>
            <a:r>
              <a:t>UC-001: Secure OTA Update Logging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Pre-conditions: TLS 1.3, HSM ready, package signed</a:t>
            </a:r>
            <a:br/>
            <a:r>
              <a:t>Primary: Download, verify signature, install, log</a:t>
            </a:r>
            <a:br/>
            <a:r>
              <a:t>Alternate: Installation failure with rollback</a:t>
            </a:r>
            <a:br/>
            <a:r>
              <a:t>Exception: Signature invalid triggers CRITICAL alert</a:t>
            </a:r>
          </a:p>
          <a:p>
            <a:br/>
            <a:pPr>
              <a:defRPr sz="1500" b="1">
                <a:solidFill>
                  <a:srgbClr val="008B8B"/>
                </a:solidFill>
              </a:defRPr>
            </a:pPr>
            <a:r>
              <a:t>UC-002: Real-Time Intrusion Detection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Pre-conditions: ML loaded, CAN active, baseline calibrated</a:t>
            </a:r>
            <a:br/>
            <a:r>
              <a:t>Primary: Capture, inference, alert, hash, upload</a:t>
            </a:r>
            <a:br/>
            <a:r>
              <a:t>Alternate: Offline mode with local queue</a:t>
            </a:r>
            <a:br/>
            <a:r>
              <a:t>Exception: ML failure falls back to rule-based</a:t>
            </a:r>
          </a:p>
          <a:p>
            <a:br/>
            <a:pPr>
              <a:defRPr sz="1500" b="1">
                <a:solidFill>
                  <a:srgbClr val="008B8B"/>
                </a:solidFill>
              </a:defRPr>
            </a:pPr>
            <a:r>
              <a:t>UC-003: Post-Incident Forensic Investigation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Pre-conditions: Investigator authenticated, case created</a:t>
            </a:r>
            <a:br/>
            <a:r>
              <a:t>Primary: Search, verify hash chain, export evidence</a:t>
            </a:r>
            <a:br/>
            <a:r>
              <a:t>Alternate: Large result sets exported asynchronously</a:t>
            </a:r>
            <a:br/>
            <a:r>
              <a:t>Exception: Hash verification failure escalates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UML Architecture: 12 Professional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B8B"/>
                </a:solidFill>
              </a:defRPr>
            </a:pPr>
            <a:r>
              <a:t>Structural Diagrams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Component Diagram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Deployment Diagram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Class Diagram v2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Entity-Relationship (NEW)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B8B"/>
                </a:solidFill>
              </a:defRPr>
            </a:pPr>
            <a:r>
              <a:t>Behavioral Diagrams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Use Case Diagram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Sequence Diagram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Activity Diagram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State Machine (NEW)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Story Pyramid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Risk Heat Map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SWOT Analysis</a:t>
            </a:r>
          </a:p>
          <a:p>
            <a:pPr>
              <a:defRPr sz="1500">
                <a:solidFill>
                  <a:srgbClr val="404040"/>
                </a:solidFill>
              </a:defRPr>
            </a:pPr>
            <a:r>
              <a:t>• Improvement Roadmap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 Analysis: 24 Risks with NIST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Risk Categories &amp; Scoring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Scoring: Likelihood (1-5) × Impact (1-5) × Confidence (0.7-1.0)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Technical (5 risks): Hardware reliability, storage, connectivity, ML accuracy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Business (5 risks): Market adoption, competitive dominance, funding gap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Compliance/Legal (4 risks): ISO 21434, UN R155, GDPR, legal admissibility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Operational (2 risks): Alert fatigue, analyst burnout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Security (3 risks): Supply chain, credential compromise, HSM extraction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Supply Chain (3 risks): Raspberry Pi shortages, AWS lock-in, data sovereignty</a:t>
            </a:r>
          </a:p>
          <a:p>
            <a:br/>
            <a:pPr>
              <a:defRPr sz="1400">
                <a:solidFill>
                  <a:srgbClr val="404040"/>
                </a:solidFill>
              </a:defRPr>
            </a:pPr>
            <a:r>
              <a:t>Technical Debt (2 risks): Prototype-to-production refactoring</a:t>
            </a:r>
          </a:p>
          <a:p>
            <a:br/>
            <a:pPr>
              <a:defRPr sz="1600" b="1">
                <a:solidFill>
                  <a:srgbClr val="27AE60"/>
                </a:solidFill>
              </a:defRPr>
            </a:pPr>
            <a:r>
              <a:t>Risk Reduction: 57% (12.4 → 5.3 average score)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Compliance Roadmap: Honest Assessment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87782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008B8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ISO/SAE 21434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3/7 Complete ✅, 2/7 In Progress 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Month 6-12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 R155 CSMS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Gap analysis complete, cert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Month 12-14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UN R156 SUMS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Architecture ready, deployment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Month 10-12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AEC-Q100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b="1">
                          <a:solidFill>
                            <a:srgbClr val="E74C3C"/>
                          </a:solidFill>
                        </a:rPr>
                        <a:t>NOT qualified (CM4), S32G migration M9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Month 9-11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Competitive Analysis: 8 Competitors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Competitive Analysis: 8 Competitors Evaluated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 Opportunity: TAM/SAM/SOM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Market Opportunity: TAM/SAM/SOM Analysis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Pricing Strategy: Hardware + Subscription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Pricing Strategy: Hardware + Subscription Model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ROI Calculation: 2.2× Using Risk Mitigation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ROI Calculation: 2.2× Using Risk Mitigation Model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Break-Even: 4,181 Vehicles (Revised)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Break-Even: 4,181 Vehicles (Revised)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5-Year TCO: $6.1M (Corrected from $5.4M)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5-Year TCO: $6.1M (Corrected from $5.4M)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Four-Phase Roadmap: TRL 4 → TRL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Four-Phase Roadmap: TRL 4 → TRL 9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Success Metrics by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Success Metrics by Phase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 Foundation: $45,000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Phase 1 Foundation: $45,000 Investment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of Funds: Hardware, Testing, 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Use of Funds: Hardware, Testing, LOI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2-4 Overview: $1.32M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Phase 2-4 Overview: $1.32M Total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 Mitigation: 40% → 90%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Risk Mitigation: 40% → 90% Reduction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&amp; Strategic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Team &amp; Strategic Partnerships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Steps: 90-Day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Next Steps: 90-Day Execution Plan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Q&amp;A: 10 Tough Questions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Detailed content for Q&amp;A: 10 Tough Questions Answered</a:t>
            </a:r>
            <a:br/>
            <a:br/>
            <a:r>
              <a:t>See CEDR_FINAL_DOCUMENT_v5.md for complete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